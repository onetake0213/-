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7" r:id="rId5"/>
    <p:sldId id="275" r:id="rId6"/>
    <p:sldId id="276" r:id="rId7"/>
    <p:sldId id="277" r:id="rId8"/>
    <p:sldId id="271" r:id="rId9"/>
    <p:sldId id="272" r:id="rId10"/>
    <p:sldId id="273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5026" autoAdjust="0"/>
  </p:normalViewPr>
  <p:slideViewPr>
    <p:cSldViewPr snapToGrid="0" snapToObjects="1">
      <p:cViewPr varScale="1">
        <p:scale>
          <a:sx n="102" d="100"/>
          <a:sy n="102" d="100"/>
        </p:scale>
        <p:origin x="96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7349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현재 </a:t>
            </a:r>
            <a:r>
              <a:rPr lang="ko-KR" altLang="en-US" dirty="0" err="1"/>
              <a:t>사방넷</a:t>
            </a:r>
            <a:r>
              <a:rPr lang="ko-KR" altLang="en-US" dirty="0"/>
              <a:t> 미니의 메인 타겟은 </a:t>
            </a:r>
            <a:r>
              <a:rPr lang="en-US" altLang="ko-KR" dirty="0"/>
              <a:t>1</a:t>
            </a:r>
            <a:r>
              <a:rPr lang="ko-KR" altLang="en-US" dirty="0"/>
              <a:t>인 창업자나 소상공인 같은 초기 셀러들입니다</a:t>
            </a:r>
            <a:r>
              <a:rPr lang="en-US" altLang="ko-KR" dirty="0"/>
              <a:t>. </a:t>
            </a:r>
            <a:r>
              <a:rPr lang="ko-KR" altLang="en-US" dirty="0"/>
              <a:t>이들은 자본과 리소스가 부족하기 때문에</a:t>
            </a:r>
            <a:r>
              <a:rPr lang="en-US" altLang="ko-KR" dirty="0"/>
              <a:t>, </a:t>
            </a:r>
            <a:r>
              <a:rPr lang="ko-KR" altLang="en-US" dirty="0"/>
              <a:t>재고 부담이 없는 </a:t>
            </a:r>
            <a:r>
              <a:rPr lang="en-US" altLang="ko-KR" dirty="0"/>
              <a:t>B2B </a:t>
            </a:r>
            <a:r>
              <a:rPr lang="ko-KR" altLang="en-US" dirty="0" err="1"/>
              <a:t>도매몰</a:t>
            </a:r>
            <a:r>
              <a:rPr lang="ko-KR" altLang="en-US" dirty="0"/>
              <a:t> 상품을 수집해 스마트스토어나 </a:t>
            </a:r>
            <a:r>
              <a:rPr lang="ko-KR" altLang="en-US" dirty="0" err="1"/>
              <a:t>쿠팡</a:t>
            </a:r>
            <a:r>
              <a:rPr lang="ko-KR" altLang="en-US" dirty="0"/>
              <a:t> 같은 멀티 채널에 동시에 판매하는 전략을 주로 취합니다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여기서 이들이 겪는 가장 큰 장벽은 **</a:t>
            </a:r>
            <a:r>
              <a:rPr lang="en-US" altLang="ko-KR" dirty="0"/>
              <a:t>'</a:t>
            </a:r>
            <a:r>
              <a:rPr lang="ko-KR" altLang="en-US" dirty="0"/>
              <a:t>쇼핑몰별로 </a:t>
            </a:r>
            <a:r>
              <a:rPr lang="ko-KR" altLang="en-US" dirty="0" err="1"/>
              <a:t>제각각인</a:t>
            </a:r>
            <a:r>
              <a:rPr lang="ko-KR" altLang="en-US" dirty="0"/>
              <a:t> 수수료</a:t>
            </a:r>
            <a:r>
              <a:rPr lang="en-US" altLang="ko-KR" dirty="0"/>
              <a:t>'**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스마트스토어는 </a:t>
            </a:r>
            <a:r>
              <a:rPr lang="en-US" altLang="ko-KR" dirty="0"/>
              <a:t>6%, </a:t>
            </a:r>
            <a:r>
              <a:rPr lang="ko-KR" altLang="en-US" dirty="0" err="1"/>
              <a:t>쿠팡은</a:t>
            </a:r>
            <a:r>
              <a:rPr lang="ko-KR" altLang="en-US" dirty="0"/>
              <a:t> </a:t>
            </a:r>
            <a:r>
              <a:rPr lang="en-US" altLang="ko-KR" dirty="0"/>
              <a:t>10%</a:t>
            </a:r>
            <a:r>
              <a:rPr lang="ko-KR" altLang="en-US" dirty="0"/>
              <a:t>가 넘는 수수료가 발생하는데</a:t>
            </a:r>
            <a:r>
              <a:rPr lang="en-US" altLang="ko-KR" dirty="0"/>
              <a:t>, </a:t>
            </a:r>
            <a:r>
              <a:rPr lang="ko-KR" altLang="en-US" dirty="0"/>
              <a:t>현재 </a:t>
            </a:r>
            <a:r>
              <a:rPr lang="ko-KR" altLang="en-US" dirty="0" err="1"/>
              <a:t>사방넷</a:t>
            </a:r>
            <a:r>
              <a:rPr lang="ko-KR" altLang="en-US" dirty="0"/>
              <a:t> 미니에는 이를 자동으로 연산해 주는 기능이 없습니다</a:t>
            </a:r>
            <a:r>
              <a:rPr lang="en-US" altLang="ko-KR" dirty="0"/>
              <a:t>. </a:t>
            </a:r>
            <a:r>
              <a:rPr lang="ko-KR" altLang="en-US" dirty="0"/>
              <a:t>결국 초보 셀러들은 매번 엑셀로 마진을 수동 계산하다가 실수를 범하고</a:t>
            </a:r>
            <a:r>
              <a:rPr lang="en-US" altLang="ko-KR" dirty="0"/>
              <a:t>, '</a:t>
            </a:r>
            <a:r>
              <a:rPr lang="ko-KR" altLang="en-US" dirty="0"/>
              <a:t>팔수록 손해를 보는 </a:t>
            </a:r>
            <a:r>
              <a:rPr lang="ko-KR" altLang="en-US" dirty="0" err="1"/>
              <a:t>역마진</a:t>
            </a:r>
            <a:r>
              <a:rPr lang="ko-KR" altLang="en-US" dirty="0"/>
              <a:t> 공포</a:t>
            </a:r>
            <a:r>
              <a:rPr lang="en-US" altLang="ko-KR" dirty="0"/>
              <a:t>'</a:t>
            </a:r>
            <a:r>
              <a:rPr lang="ko-KR" altLang="en-US" dirty="0"/>
              <a:t>에 직면하게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이는 솔루션에 대한 불신과 이탈로 이어집니다</a:t>
            </a:r>
            <a:r>
              <a:rPr lang="en-US" altLang="ko-KR" dirty="0"/>
              <a:t>. </a:t>
            </a:r>
            <a:r>
              <a:rPr lang="ko-KR" altLang="en-US" dirty="0"/>
              <a:t>따라서 저희는 상위 버전인 </a:t>
            </a:r>
            <a:r>
              <a:rPr lang="ko-KR" altLang="en-US" dirty="0" err="1"/>
              <a:t>사방넷</a:t>
            </a:r>
            <a:r>
              <a:rPr lang="ko-KR" altLang="en-US" dirty="0"/>
              <a:t> 오리지널의 강력한 가격 수식 메커니즘을 벤치마킹하여</a:t>
            </a:r>
            <a:r>
              <a:rPr lang="en-US" altLang="ko-KR" dirty="0"/>
              <a:t>, </a:t>
            </a:r>
            <a:r>
              <a:rPr lang="ko-KR" altLang="en-US" dirty="0"/>
              <a:t>초보 셀러도 마우스 클릭 몇 번으로 마진을 안전하게 확보할 수 있는 기능적 개선을 제안하고자 합니다</a:t>
            </a:r>
            <a:r>
              <a:rPr lang="en-US" altLang="ko-KR" dirty="0"/>
              <a:t>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3B2E3-5A5F-3DDD-9982-5A37E31F1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5510FA-FC33-92A1-5FC5-E091DE02F9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D4F6A4-6DAA-9A84-76B9-49F235F72F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"다음은 기존 기능 및 </a:t>
            </a:r>
            <a:r>
              <a:rPr lang="ko-KR" altLang="ko-KR" dirty="0" err="1"/>
              <a:t>UX의</a:t>
            </a:r>
            <a:r>
              <a:rPr lang="ko-KR" altLang="ko-KR" dirty="0"/>
              <a:t> 문제입니다. 현재 </a:t>
            </a:r>
            <a:r>
              <a:rPr lang="ko-KR" altLang="ko-KR" dirty="0" err="1"/>
              <a:t>사방넷</a:t>
            </a:r>
            <a:r>
              <a:rPr lang="ko-KR" altLang="ko-KR" dirty="0"/>
              <a:t> 미니는 멀티 채널 상품 전송을 지원하지만, 정작 각 마켓의 핵심인 '수수료 </a:t>
            </a:r>
            <a:r>
              <a:rPr lang="ko-KR" altLang="ko-KR" dirty="0" err="1"/>
              <a:t>차이'를</a:t>
            </a:r>
            <a:r>
              <a:rPr lang="ko-KR" altLang="ko-KR" dirty="0"/>
              <a:t> 솔루션 내부에서 흡수하지 못하고 있습니다.</a:t>
            </a:r>
          </a:p>
          <a:p>
            <a:r>
              <a:rPr lang="ko-KR" altLang="ko-KR" dirty="0"/>
              <a:t>이 때문에 초보 셀러들은 상품을 보낼 때마다 별도의 엑셀 창을 띄워놓고 마진을 수동으로 계산한 뒤, 다시 사방넷에 입력하는 번거로운 우회 행동을 하고 있습니다.</a:t>
            </a:r>
          </a:p>
          <a:p>
            <a:r>
              <a:rPr lang="ko-KR" altLang="ko-KR" dirty="0"/>
              <a:t>이 과정에서 입력 실수가 발생하면 고스란히 셀러의 손해, 즉 역마진으로 이어지며 이는 초기 셀러의 생존을 위협하는 치명적인 리스크가 됩니다. 상위 버전인 오리지널 사방넷에 가격 수식 기능이 존재하긴 하지만, 메뉴가 너무 복잡하여 미니의 타겟 고객들이 접근하기 어렵다는 점 또한 심각한 </a:t>
            </a:r>
            <a:r>
              <a:rPr lang="ko-KR" altLang="ko-KR" dirty="0" err="1"/>
              <a:t>UX적</a:t>
            </a:r>
            <a:r>
              <a:rPr lang="ko-KR" altLang="ko-KR" dirty="0"/>
              <a:t> 허들입니다."</a:t>
            </a:r>
          </a:p>
          <a:p>
            <a:r>
              <a:rPr lang="ko-KR" altLang="ko-KR" dirty="0"/>
              <a:t>유저가 겪는 고통을 구체적으로 정의했으니 청중들도 문제의 심각성을 인지했을 것입니다.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B553C7-BD8F-D986-E6C8-CAD0443ABB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4438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E2F00-C56D-3952-14E0-64B17F7E4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3823C6-BBEE-1580-9A39-30BE5885FC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222D67-0595-1D93-CA84-C0C64F62B8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"앞서 제기한 문제들을 해결하기 위해 저희가 제안하는 개선 목적과 방향입니다. 핵심은 초보 셀러의 심리적 불안을 없애고, 복잡한 공식 학습 없이 원하는 마진율만 입력하면 자동으로 판매가를 산출하는 **'스마트 마진 엔진'**의 구축입니다.</a:t>
            </a:r>
          </a:p>
          <a:p>
            <a:r>
              <a:rPr lang="ko-KR" altLang="ko-KR" dirty="0"/>
              <a:t>이를 위해 저희는 세 가지 방향성을 잡았습니다. 첫째, 엑셀이 필요 없는 </a:t>
            </a:r>
            <a:r>
              <a:rPr lang="ko-KR" altLang="ko-KR" b="1" dirty="0"/>
              <a:t>프로세스 자동화</a:t>
            </a:r>
            <a:r>
              <a:rPr lang="ko-KR" altLang="ko-KR" dirty="0"/>
              <a:t>입니다. 도매 원가를 기반으로 채널별 판가가 실시간 자동 역산되도록 구현합니다. 둘째, 수식 없이 수치만 입력하는 </a:t>
            </a:r>
            <a:r>
              <a:rPr lang="ko-KR" altLang="ko-KR" b="1" dirty="0"/>
              <a:t>극도의 직관적 </a:t>
            </a:r>
            <a:r>
              <a:rPr lang="ko-KR" altLang="ko-KR" b="1" dirty="0" err="1"/>
              <a:t>UX</a:t>
            </a:r>
            <a:r>
              <a:rPr lang="ko-KR" altLang="ko-KR" dirty="0" err="1"/>
              <a:t>를</a:t>
            </a:r>
            <a:r>
              <a:rPr lang="ko-KR" altLang="ko-KR" dirty="0"/>
              <a:t> 제공합니다. 슬라이더 바를 조절하는 것만으로 목표 판가가 설정됩니다. 셋째, 실수를 원천 차단하는 </a:t>
            </a:r>
            <a:r>
              <a:rPr lang="ko-KR" altLang="ko-KR" b="1" dirty="0"/>
              <a:t>심리적 안전망</a:t>
            </a:r>
            <a:r>
              <a:rPr lang="ko-KR" altLang="ko-KR" dirty="0"/>
              <a:t>입니다. 판매 단가가 적정 마진 이하로 내려가면 시스템이 즉각 신호등 인디케이터로 경고하고 전송을 </a:t>
            </a:r>
            <a:r>
              <a:rPr lang="ko-KR" altLang="ko-KR" dirty="0" err="1"/>
              <a:t>락</a:t>
            </a:r>
            <a:r>
              <a:rPr lang="ko-KR" altLang="ko-KR" dirty="0"/>
              <a:t>(</a:t>
            </a:r>
            <a:r>
              <a:rPr lang="ko-KR" altLang="ko-KR" dirty="0" err="1"/>
              <a:t>Lock</a:t>
            </a:r>
            <a:r>
              <a:rPr lang="ko-KR" altLang="ko-KR" dirty="0"/>
              <a:t>)하는 기능을 도입할 것입니다.</a:t>
            </a:r>
          </a:p>
          <a:p>
            <a:r>
              <a:rPr lang="ko-KR" altLang="ko-KR" dirty="0"/>
              <a:t>이 개선을 통해 </a:t>
            </a:r>
            <a:r>
              <a:rPr lang="ko-KR" altLang="ko-KR" dirty="0" err="1"/>
              <a:t>사방넷</a:t>
            </a:r>
            <a:r>
              <a:rPr lang="ko-KR" altLang="ko-KR" dirty="0"/>
              <a:t> 미니는 단순한 등록 대행 툴을 넘어, 초보 셀러의 비즈니스를 지켜주는 '파트너 </a:t>
            </a:r>
            <a:r>
              <a:rPr lang="ko-KR" altLang="ko-KR" dirty="0" err="1"/>
              <a:t>솔루션'으로</a:t>
            </a:r>
            <a:r>
              <a:rPr lang="ko-KR" altLang="ko-KR" dirty="0"/>
              <a:t> 진화할 것입니다."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7DF74F-A21C-50D1-184A-E0FA7B293D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9677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81679-E65E-7B0D-827D-3831EA02B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0F9CCE-217A-0428-77DB-932CF1A954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4249A9-08AF-8881-B407-9DFCC4D91D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"가장 중요한 구체적인 정책 수립과 기능 흐름입니다. 저희가 수립한 핵심 정책은 '수수료 역산 </a:t>
            </a:r>
            <a:r>
              <a:rPr lang="ko-KR" altLang="ko-KR" dirty="0" err="1"/>
              <a:t>알고리즘'입니다</a:t>
            </a:r>
            <a:r>
              <a:rPr lang="ko-KR" altLang="ko-KR" dirty="0"/>
              <a:t>. 화면 좌측의 수식을 보시면, 시스템 </a:t>
            </a:r>
            <a:r>
              <a:rPr lang="ko-KR" altLang="ko-KR" dirty="0" err="1"/>
              <a:t>백엔드에서</a:t>
            </a:r>
            <a:r>
              <a:rPr lang="ko-KR" altLang="ko-KR" dirty="0"/>
              <a:t> 도매 원가에 셀러의 희망 마진을 더한 뒤 각 쇼핑몰의 카테고리 수수료를 나누어 역산하는 구조를 설계했습니다.</a:t>
            </a:r>
          </a:p>
          <a:p>
            <a:r>
              <a:rPr lang="ko-KR" altLang="ko-KR" dirty="0"/>
              <a:t>이를 통한 실제 기능 흐름은 매우 </a:t>
            </a:r>
            <a:r>
              <a:rPr lang="ko-KR" altLang="ko-KR" dirty="0" err="1"/>
              <a:t>단순해집니다</a:t>
            </a:r>
            <a:r>
              <a:rPr lang="ko-KR" altLang="ko-KR" dirty="0"/>
              <a:t>. 유저가 도매 상품을 수집해 </a:t>
            </a:r>
            <a:r>
              <a:rPr lang="ko-KR" altLang="ko-KR" dirty="0" err="1"/>
              <a:t>사방넷</a:t>
            </a:r>
            <a:r>
              <a:rPr lang="ko-KR" altLang="ko-KR" dirty="0"/>
              <a:t> 미니 등록 팝업에 들어오면, 시스템이 마켓별 최신 수수료를 미리 </a:t>
            </a:r>
            <a:r>
              <a:rPr lang="ko-KR" altLang="ko-KR" dirty="0" err="1"/>
              <a:t>로드해</a:t>
            </a:r>
            <a:r>
              <a:rPr lang="ko-KR" altLang="ko-KR" dirty="0"/>
              <a:t> 둡니다. 유저가 '나 이번에 15% 마진 남길래' 하고 수치만 입력하면, </a:t>
            </a:r>
            <a:r>
              <a:rPr lang="ko-KR" altLang="ko-KR" dirty="0" err="1"/>
              <a:t>쿠팡은</a:t>
            </a:r>
            <a:r>
              <a:rPr lang="ko-KR" altLang="ko-KR" dirty="0"/>
              <a:t> 12,900원, 스마트스토어는 12,200원 구조로 마켓별 최종 판매가가 1초 만에 자동 </a:t>
            </a:r>
            <a:r>
              <a:rPr lang="ko-KR" altLang="ko-KR" dirty="0" err="1"/>
              <a:t>세팅됩니다</a:t>
            </a:r>
            <a:r>
              <a:rPr lang="ko-KR" altLang="ko-KR" dirty="0"/>
              <a:t>.</a:t>
            </a:r>
          </a:p>
          <a:p>
            <a:r>
              <a:rPr lang="ko-KR" altLang="ko-KR" dirty="0"/>
              <a:t>복잡한 엑셀 수식 과정을 완벽하게 솔루션 내부 흐름으로 흡수한 정책이며, 초보 셀러는 화면에 뜨는 채널별 최종 가격과 예상 마진 금액만 확인하고 전송 버튼을 누르면 끝나는 혁신적인 흐름입니다."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8B2F7E-73A7-228E-7FFD-B2D28B281B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5805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69871-6C72-F9E3-C84D-00B3F6FBF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5074B6-04BB-DA00-F960-74B02B9951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EDE69D-B643-D780-187C-416D04C1CB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"다음은 발생 리스크 및 대응 방안입니다. 아무리 편리한 가격 자동 계산 기능이라도 </a:t>
            </a:r>
            <a:r>
              <a:rPr lang="ko-KR" altLang="ko-KR" dirty="0" err="1"/>
              <a:t>이커머스</a:t>
            </a:r>
            <a:r>
              <a:rPr lang="ko-KR" altLang="ko-KR" dirty="0"/>
              <a:t> 특성상 예외적인 리스크가 존재합니다.</a:t>
            </a:r>
          </a:p>
          <a:p>
            <a:r>
              <a:rPr lang="ko-KR" altLang="ko-KR" dirty="0"/>
              <a:t>첫 번째 리스크는 쇼핑몰들의 수수료 정책 변동입니다. 이를 방어하기 위해 </a:t>
            </a:r>
            <a:r>
              <a:rPr lang="ko-KR" altLang="ko-KR" dirty="0" err="1"/>
              <a:t>사방넷</a:t>
            </a:r>
            <a:r>
              <a:rPr lang="ko-KR" altLang="ko-KR" dirty="0"/>
              <a:t> 미니 내부 수수료 테이블이 마켓별 </a:t>
            </a:r>
            <a:r>
              <a:rPr lang="ko-KR" altLang="ko-KR" dirty="0" err="1"/>
              <a:t>API와</a:t>
            </a:r>
            <a:r>
              <a:rPr lang="ko-KR" altLang="ko-KR" dirty="0"/>
              <a:t> 연동되어 상시 최신 상태를 유지하도록 정책을 수립했습니다. 예외적인 카테고리 수수료는 사용자가 직접 미세 조정할 수 있는 커스텀 메뉴도 함께 제공합니다.</a:t>
            </a:r>
          </a:p>
          <a:p>
            <a:r>
              <a:rPr lang="ko-KR" altLang="ko-KR" dirty="0"/>
              <a:t>두 번째는 셀러가 최저가 경쟁을 하다가 실수로 너무 낮은 가격을 책정하는 '자발적 </a:t>
            </a:r>
            <a:r>
              <a:rPr lang="ko-KR" altLang="ko-KR" dirty="0" err="1"/>
              <a:t>역마진</a:t>
            </a:r>
            <a:r>
              <a:rPr lang="ko-KR" altLang="ko-KR" dirty="0"/>
              <a:t> </a:t>
            </a:r>
            <a:r>
              <a:rPr lang="ko-KR" altLang="ko-KR" dirty="0" err="1"/>
              <a:t>리스크'입니다</a:t>
            </a:r>
            <a:r>
              <a:rPr lang="ko-KR" altLang="ko-KR" dirty="0"/>
              <a:t>. 이를 막기 위해 저희는 마진 신호등 </a:t>
            </a:r>
            <a:r>
              <a:rPr lang="ko-KR" altLang="ko-KR" dirty="0" err="1"/>
              <a:t>UI와</a:t>
            </a:r>
            <a:r>
              <a:rPr lang="ko-KR" altLang="ko-KR" dirty="0"/>
              <a:t> 미니멈 </a:t>
            </a:r>
            <a:r>
              <a:rPr lang="ko-KR" altLang="ko-KR" dirty="0" err="1"/>
              <a:t>가드락이라는</a:t>
            </a:r>
            <a:r>
              <a:rPr lang="ko-KR" altLang="ko-KR" dirty="0"/>
              <a:t> 2중 안전장치를 도입하고자 합니다. 순마진이 위험 수준으로 떨어지면 화면에 적색 경고가 발생하고, 마이너스 마진일 때는 전송 버튼 자체가 잠기는 물리적 차단 정책을 통해 초보 셀러들이 안심하고 솔루션을 사용할 수 있는 환경을 만들겠습니다."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5F1A1-E0B8-E5AE-E583-1BF9F1E64C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2383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73832-4731-9D73-4E2E-16CF8EDC5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B0C514-FA19-705B-1A46-93BD930DE6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6E8709-4C20-74F5-FB91-AB9FAAF34E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"마지막으로 기대 효과입니다. 본 개선안은 단순한 기능 추가를 넘어 유저와 플랫폼 모두에게 정성적인 가치를 </a:t>
            </a:r>
            <a:r>
              <a:rPr lang="ko-KR" altLang="ko-KR" dirty="0" err="1"/>
              <a:t>가져다줍니다</a:t>
            </a:r>
            <a:r>
              <a:rPr lang="ko-KR" altLang="ko-KR" dirty="0"/>
              <a:t>.</a:t>
            </a:r>
          </a:p>
          <a:p>
            <a:r>
              <a:rPr lang="ko-KR" altLang="ko-KR" dirty="0"/>
              <a:t>첫째, 초보 셀러들의 </a:t>
            </a:r>
            <a:r>
              <a:rPr lang="ko-KR" altLang="ko-KR" b="1" dirty="0"/>
              <a:t>'</a:t>
            </a:r>
            <a:r>
              <a:rPr lang="ko-KR" altLang="ko-KR" b="1" dirty="0" err="1"/>
              <a:t>역마진</a:t>
            </a:r>
            <a:r>
              <a:rPr lang="ko-KR" altLang="ko-KR" b="1" dirty="0"/>
              <a:t> </a:t>
            </a:r>
            <a:r>
              <a:rPr lang="ko-KR" altLang="ko-KR" b="1" dirty="0" err="1"/>
              <a:t>공포'를</a:t>
            </a:r>
            <a:r>
              <a:rPr lang="ko-KR" altLang="ko-KR" b="1" dirty="0"/>
              <a:t> 안심감으로</a:t>
            </a:r>
            <a:r>
              <a:rPr lang="ko-KR" altLang="ko-KR" dirty="0"/>
              <a:t> 바꿉니다. 입력 실수를 시스템이 알아서 잡아주기 때문에 유저는 솔루션을 신뢰하고 더 적극적으로 상품을 등록하게 됩니다. 둘째, **'학습이 필요 없는 원스톱 환경'**을 제공합니다. 복잡한 수식을 공부하거나 엑셀로 우회할 필요 없이, </a:t>
            </a:r>
            <a:r>
              <a:rPr lang="ko-KR" altLang="ko-KR" dirty="0" err="1"/>
              <a:t>사방넷</a:t>
            </a:r>
            <a:r>
              <a:rPr lang="ko-KR" altLang="ko-KR" dirty="0"/>
              <a:t> 미니 안에서 직관적으로 가격 관리가 끝나는 편리함을 제공합니다. 마지막으로 </a:t>
            </a:r>
            <a:r>
              <a:rPr lang="ko-KR" altLang="ko-KR" dirty="0" err="1"/>
              <a:t>사방넷</a:t>
            </a:r>
            <a:r>
              <a:rPr lang="ko-KR" altLang="ko-KR" dirty="0"/>
              <a:t> 미니의 </a:t>
            </a:r>
            <a:r>
              <a:rPr lang="ko-KR" altLang="ko-KR" b="1" dirty="0"/>
              <a:t>비즈니스적 선순환</a:t>
            </a:r>
            <a:r>
              <a:rPr lang="ko-KR" altLang="ko-KR" dirty="0"/>
              <a:t>입니다. 초기 셀러들이 가격 설정 실패로 중도 탈락하는 것을 </a:t>
            </a:r>
            <a:r>
              <a:rPr lang="ko-KR" altLang="ko-KR" dirty="0" err="1"/>
              <a:t>막아줌으로써</a:t>
            </a:r>
            <a:r>
              <a:rPr lang="ko-KR" altLang="ko-KR" dirty="0"/>
              <a:t> 이들의 안착을 돕고, 추후 매출 성장에 따라 사방넷의 상위 유료 서비스로 자연스럽게 이동하게 만드는 강력한 </a:t>
            </a:r>
            <a:r>
              <a:rPr lang="ko-KR" altLang="ko-KR" dirty="0" err="1"/>
              <a:t>락인</a:t>
            </a:r>
            <a:r>
              <a:rPr lang="ko-KR" altLang="ko-KR" dirty="0"/>
              <a:t>(</a:t>
            </a:r>
            <a:r>
              <a:rPr lang="ko-KR" altLang="ko-KR" dirty="0" err="1"/>
              <a:t>Lock-in</a:t>
            </a:r>
            <a:r>
              <a:rPr lang="ko-KR" altLang="ko-KR" dirty="0"/>
              <a:t>) 효과를 기대할 수 있습니다."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44BF86-19C4-5A01-3D41-796D5C69E8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8354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4784D-899B-3F00-540A-369BC6CFB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E899BC-1CCB-3487-F081-2E1729F0D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7A9C79-BDD3-28BA-1396-8F1C5B9D9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1E74D0-4098-BCA8-9E71-E7B36DCC9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0579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43A75-2D6F-61AE-2A40-177C643B4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A69378-38F7-6FA5-0E8B-8931807B0F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22AC66-8250-AB0B-7E67-BFC5A18404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마지막으로 기대 효과와 과제 추가 질문에 대한 </a:t>
            </a:r>
            <a:r>
              <a:rPr lang="ko-KR" altLang="ko-KR" dirty="0" err="1"/>
              <a:t>기획적</a:t>
            </a:r>
            <a:r>
              <a:rPr lang="ko-KR" altLang="ko-KR" dirty="0"/>
              <a:t> 답변을 설명해 드리겠습니다.</a:t>
            </a:r>
          </a:p>
          <a:p>
            <a:r>
              <a:rPr lang="ko-KR" altLang="ko-KR" dirty="0"/>
              <a:t>저희가 기획한 스마트 마진 엔진을 </a:t>
            </a:r>
            <a:r>
              <a:rPr lang="ko-KR" altLang="ko-KR" dirty="0" err="1"/>
              <a:t>사방넷</a:t>
            </a:r>
            <a:r>
              <a:rPr lang="ko-KR" altLang="ko-KR" dirty="0"/>
              <a:t> 미니에 도입한다면, 보시는 정량 지표 그래프와 같이 기존 5채널 연동 시 180분씩 소요되던 수동 엑셀 연산 및 상품 등록 프로세스가 단 15분으로 </a:t>
            </a:r>
            <a:r>
              <a:rPr lang="ko-KR" altLang="ko-KR" b="1" dirty="0"/>
              <a:t>최대 91.6% 이상 단축되는 극적인 효율</a:t>
            </a:r>
            <a:r>
              <a:rPr lang="ko-KR" altLang="ko-KR" dirty="0"/>
              <a:t>을 이끌어 낼 수 있습니다.</a:t>
            </a:r>
          </a:p>
          <a:p>
            <a:r>
              <a:rPr lang="ko-KR" altLang="ko-KR" dirty="0"/>
              <a:t>저희는 본 과제에 접근할 때 단순 화면 디자인 개선을 넘어, 초보 소상공인 셀러들이 사방넷을 처음 가입하고 상품 등록 직전에 겪는 **'역마진의 고통과 복잡한 공식에 대한 이탈 </a:t>
            </a:r>
            <a:r>
              <a:rPr lang="ko-KR" altLang="ko-KR" dirty="0" err="1"/>
              <a:t>페인포인트</a:t>
            </a:r>
            <a:r>
              <a:rPr lang="ko-KR" altLang="ko-KR" dirty="0"/>
              <a:t>'**</a:t>
            </a:r>
            <a:r>
              <a:rPr lang="ko-KR" altLang="ko-KR" dirty="0" err="1"/>
              <a:t>를</a:t>
            </a:r>
            <a:r>
              <a:rPr lang="ko-KR" altLang="ko-KR" dirty="0"/>
              <a:t> 해결하고자 했습니다. 타사나 상위 버전의 가격 수식 기능을 고집하는 대신 마진 역산이라는 수학적 모델과 직관적인 신호등 가이드 </a:t>
            </a:r>
            <a:r>
              <a:rPr lang="ko-KR" altLang="ko-KR" dirty="0" err="1"/>
              <a:t>UI를</a:t>
            </a:r>
            <a:r>
              <a:rPr lang="ko-KR" altLang="ko-KR" dirty="0"/>
              <a:t> 기획한 이유입니다.</a:t>
            </a:r>
          </a:p>
          <a:p>
            <a:r>
              <a:rPr lang="ko-KR" altLang="ko-KR" dirty="0" err="1"/>
              <a:t>유관부서와</a:t>
            </a:r>
            <a:r>
              <a:rPr lang="ko-KR" altLang="ko-KR" dirty="0"/>
              <a:t> 협업할 때 가격은 단 1원의 오차도 허용되어서는 안 되기에, </a:t>
            </a:r>
            <a:r>
              <a:rPr lang="ko-KR" altLang="ko-KR" b="1" dirty="0"/>
              <a:t>역산 수식의 연동 및 마켓 수수료 테이블 정합성을 1순위 개발 우선순위</a:t>
            </a:r>
            <a:r>
              <a:rPr lang="ko-KR" altLang="ko-KR" dirty="0"/>
              <a:t>로 잡고 갈 것입니다. 마지막으로 이 마진 엔진을 토대로, 셀러들이 오늘 마켓에서 얼마나 벌었는지 직관적으로 알려주는 </a:t>
            </a:r>
            <a:r>
              <a:rPr lang="ko-KR" altLang="ko-KR" b="1" dirty="0"/>
              <a:t>실시간 순이익 대시보드 홈 화면 위젯</a:t>
            </a:r>
            <a:r>
              <a:rPr lang="ko-KR" altLang="ko-KR" dirty="0"/>
              <a:t>까지 </a:t>
            </a:r>
            <a:r>
              <a:rPr lang="ko-KR" altLang="ko-KR" dirty="0" err="1"/>
              <a:t>사방넷</a:t>
            </a:r>
            <a:r>
              <a:rPr lang="ko-KR" altLang="ko-KR" dirty="0"/>
              <a:t> 미니에 도입한다면, </a:t>
            </a:r>
            <a:r>
              <a:rPr lang="ko-KR" altLang="ko-KR" dirty="0" err="1"/>
              <a:t>이커머스</a:t>
            </a:r>
            <a:r>
              <a:rPr lang="ko-KR" altLang="ko-KR" dirty="0"/>
              <a:t> 멀티 채널 통합 관리 시장에서 압도적인 리딩 브랜드 </a:t>
            </a:r>
            <a:r>
              <a:rPr lang="ko-KR" altLang="ko-KR" dirty="0" err="1"/>
              <a:t>락인</a:t>
            </a:r>
            <a:r>
              <a:rPr lang="ko-KR" altLang="ko-KR" dirty="0"/>
              <a:t> 효과를 누릴 수 있을 것이라 제안합니다. 경청해 주셔서 감사합니다."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47ACA9-86AE-0357-236B-FC137AA274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505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80960" y="-548640"/>
            <a:ext cx="2011680" cy="2011680"/>
          </a:xfrm>
          <a:prstGeom prst="ellipse">
            <a:avLst/>
          </a:prstGeom>
          <a:solidFill>
            <a:srgbClr val="00A6A6">
              <a:alpha val="30000"/>
            </a:srgbClr>
          </a:solidFill>
          <a:ln w="12700">
            <a:solidFill>
              <a:srgbClr val="00A6A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194560" cy="29260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서비스 개선 제안서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사방넷 미니</a:t>
            </a:r>
            <a:endParaRPr lang="en-US" sz="3600" dirty="0"/>
          </a:p>
          <a:p>
            <a:pPr marL="0" indent="0" algn="l">
              <a:buNone/>
            </a:pPr>
            <a:r>
              <a:rPr lang="ko-KR" alt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 판매가 마진 설정</a:t>
            </a: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프로세스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00C4B4"/>
                </a:solidFill>
              </a:rPr>
              <a:t>초기 셀러의 병목을 줄이는 경험 설계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4160520"/>
            <a:ext cx="82296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1안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685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621689"/>
            <a:ext cx="8321040" cy="3977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11480" y="621689"/>
            <a:ext cx="54864" cy="397764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30352" y="653676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6A6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667409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A2E4A"/>
                </a:solidFill>
              </a:rPr>
              <a:t>제안 배경</a:t>
            </a:r>
            <a:endParaRPr lang="en-US" sz="1300" dirty="0"/>
          </a:p>
        </p:txBody>
      </p:sp>
      <p:sp>
        <p:nvSpPr>
          <p:cNvPr id="40" name="Shape 2">
            <a:extLst>
              <a:ext uri="{FF2B5EF4-FFF2-40B4-BE49-F238E27FC236}">
                <a16:creationId xmlns:a16="http://schemas.microsoft.com/office/drawing/2014/main" id="{1F59112F-09E0-1F06-F4CA-01A8B6BFF0B8}"/>
              </a:ext>
            </a:extLst>
          </p:cNvPr>
          <p:cNvSpPr/>
          <p:nvPr/>
        </p:nvSpPr>
        <p:spPr>
          <a:xfrm>
            <a:off x="411480" y="1151078"/>
            <a:ext cx="8321040" cy="3977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">
            <a:extLst>
              <a:ext uri="{FF2B5EF4-FFF2-40B4-BE49-F238E27FC236}">
                <a16:creationId xmlns:a16="http://schemas.microsoft.com/office/drawing/2014/main" id="{48577B7A-C505-F6DB-AF5B-A0F8C9A176E3}"/>
              </a:ext>
            </a:extLst>
          </p:cNvPr>
          <p:cNvSpPr/>
          <p:nvPr/>
        </p:nvSpPr>
        <p:spPr>
          <a:xfrm>
            <a:off x="411480" y="1151078"/>
            <a:ext cx="54864" cy="397764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">
            <a:extLst>
              <a:ext uri="{FF2B5EF4-FFF2-40B4-BE49-F238E27FC236}">
                <a16:creationId xmlns:a16="http://schemas.microsoft.com/office/drawing/2014/main" id="{EDB79224-C5FC-BD02-D356-F58790D04A92}"/>
              </a:ext>
            </a:extLst>
          </p:cNvPr>
          <p:cNvSpPr/>
          <p:nvPr/>
        </p:nvSpPr>
        <p:spPr>
          <a:xfrm>
            <a:off x="530352" y="1183065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6A6"/>
                </a:solidFill>
              </a:rPr>
              <a:t>02</a:t>
            </a:r>
            <a:endParaRPr lang="en-US" sz="1600" dirty="0"/>
          </a:p>
        </p:txBody>
      </p:sp>
      <p:sp>
        <p:nvSpPr>
          <p:cNvPr id="43" name="Text 5">
            <a:extLst>
              <a:ext uri="{FF2B5EF4-FFF2-40B4-BE49-F238E27FC236}">
                <a16:creationId xmlns:a16="http://schemas.microsoft.com/office/drawing/2014/main" id="{59EAB34A-2A7E-27A6-8FE3-C38E30C264DD}"/>
              </a:ext>
            </a:extLst>
          </p:cNvPr>
          <p:cNvSpPr/>
          <p:nvPr/>
        </p:nvSpPr>
        <p:spPr>
          <a:xfrm>
            <a:off x="1097280" y="119679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1300" b="1" dirty="0">
                <a:solidFill>
                  <a:srgbClr val="1A2E4A"/>
                </a:solidFill>
              </a:rPr>
              <a:t>UX </a:t>
            </a:r>
            <a:r>
              <a:rPr lang="ko-KR" altLang="en-US" sz="1300" b="1" dirty="0">
                <a:solidFill>
                  <a:srgbClr val="1A2E4A"/>
                </a:solidFill>
              </a:rPr>
              <a:t>문제 정의</a:t>
            </a:r>
            <a:endParaRPr lang="en-US" sz="1300" dirty="0"/>
          </a:p>
        </p:txBody>
      </p:sp>
      <p:sp>
        <p:nvSpPr>
          <p:cNvPr id="44" name="Shape 2">
            <a:extLst>
              <a:ext uri="{FF2B5EF4-FFF2-40B4-BE49-F238E27FC236}">
                <a16:creationId xmlns:a16="http://schemas.microsoft.com/office/drawing/2014/main" id="{69CA7643-CB25-5F77-DCEE-9ACCB259548B}"/>
              </a:ext>
            </a:extLst>
          </p:cNvPr>
          <p:cNvSpPr/>
          <p:nvPr/>
        </p:nvSpPr>
        <p:spPr>
          <a:xfrm>
            <a:off x="411480" y="1680467"/>
            <a:ext cx="8321040" cy="3977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3">
            <a:extLst>
              <a:ext uri="{FF2B5EF4-FFF2-40B4-BE49-F238E27FC236}">
                <a16:creationId xmlns:a16="http://schemas.microsoft.com/office/drawing/2014/main" id="{A1145C4A-2C03-D8C4-C9C4-9A7E63A8DF92}"/>
              </a:ext>
            </a:extLst>
          </p:cNvPr>
          <p:cNvSpPr/>
          <p:nvPr/>
        </p:nvSpPr>
        <p:spPr>
          <a:xfrm>
            <a:off x="411480" y="1680467"/>
            <a:ext cx="54864" cy="397764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">
            <a:extLst>
              <a:ext uri="{FF2B5EF4-FFF2-40B4-BE49-F238E27FC236}">
                <a16:creationId xmlns:a16="http://schemas.microsoft.com/office/drawing/2014/main" id="{6653D065-F392-21BB-CD25-C57C23794083}"/>
              </a:ext>
            </a:extLst>
          </p:cNvPr>
          <p:cNvSpPr/>
          <p:nvPr/>
        </p:nvSpPr>
        <p:spPr>
          <a:xfrm>
            <a:off x="530352" y="1712454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6A6"/>
                </a:solidFill>
              </a:rPr>
              <a:t>03</a:t>
            </a:r>
            <a:endParaRPr lang="en-US" sz="1600" dirty="0"/>
          </a:p>
        </p:txBody>
      </p:sp>
      <p:sp>
        <p:nvSpPr>
          <p:cNvPr id="47" name="Text 5">
            <a:extLst>
              <a:ext uri="{FF2B5EF4-FFF2-40B4-BE49-F238E27FC236}">
                <a16:creationId xmlns:a16="http://schemas.microsoft.com/office/drawing/2014/main" id="{E0004E36-3049-442B-0172-5B7AFAE0F23F}"/>
              </a:ext>
            </a:extLst>
          </p:cNvPr>
          <p:cNvSpPr/>
          <p:nvPr/>
        </p:nvSpPr>
        <p:spPr>
          <a:xfrm>
            <a:off x="1097280" y="1726187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A2E4A"/>
                </a:solidFill>
              </a:rPr>
              <a:t>개선 목적 및 방향</a:t>
            </a:r>
            <a:endParaRPr lang="en-US" sz="1300" dirty="0"/>
          </a:p>
        </p:txBody>
      </p:sp>
      <p:sp>
        <p:nvSpPr>
          <p:cNvPr id="48" name="Shape 2">
            <a:extLst>
              <a:ext uri="{FF2B5EF4-FFF2-40B4-BE49-F238E27FC236}">
                <a16:creationId xmlns:a16="http://schemas.microsoft.com/office/drawing/2014/main" id="{6F3F499E-42BE-C92A-E85A-D6AFB96BECD4}"/>
              </a:ext>
            </a:extLst>
          </p:cNvPr>
          <p:cNvSpPr/>
          <p:nvPr/>
        </p:nvSpPr>
        <p:spPr>
          <a:xfrm>
            <a:off x="411480" y="2209856"/>
            <a:ext cx="8321040" cy="3977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3">
            <a:extLst>
              <a:ext uri="{FF2B5EF4-FFF2-40B4-BE49-F238E27FC236}">
                <a16:creationId xmlns:a16="http://schemas.microsoft.com/office/drawing/2014/main" id="{2663441E-6EC9-9699-5780-BBDFC86FEB40}"/>
              </a:ext>
            </a:extLst>
          </p:cNvPr>
          <p:cNvSpPr/>
          <p:nvPr/>
        </p:nvSpPr>
        <p:spPr>
          <a:xfrm>
            <a:off x="411480" y="2209856"/>
            <a:ext cx="54864" cy="397764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">
            <a:extLst>
              <a:ext uri="{FF2B5EF4-FFF2-40B4-BE49-F238E27FC236}">
                <a16:creationId xmlns:a16="http://schemas.microsoft.com/office/drawing/2014/main" id="{9D183781-03AE-06E1-E9E2-2B489B98EDA4}"/>
              </a:ext>
            </a:extLst>
          </p:cNvPr>
          <p:cNvSpPr/>
          <p:nvPr/>
        </p:nvSpPr>
        <p:spPr>
          <a:xfrm>
            <a:off x="530352" y="2241843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6A6"/>
                </a:solidFill>
              </a:rPr>
              <a:t>04</a:t>
            </a:r>
            <a:endParaRPr lang="en-US" sz="1600" dirty="0"/>
          </a:p>
        </p:txBody>
      </p:sp>
      <p:sp>
        <p:nvSpPr>
          <p:cNvPr id="51" name="Text 5">
            <a:extLst>
              <a:ext uri="{FF2B5EF4-FFF2-40B4-BE49-F238E27FC236}">
                <a16:creationId xmlns:a16="http://schemas.microsoft.com/office/drawing/2014/main" id="{872BC9B6-EC9E-8C51-0991-9515D6860DCA}"/>
              </a:ext>
            </a:extLst>
          </p:cNvPr>
          <p:cNvSpPr/>
          <p:nvPr/>
        </p:nvSpPr>
        <p:spPr>
          <a:xfrm>
            <a:off x="1097280" y="225557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A2E4A"/>
                </a:solidFill>
              </a:rPr>
              <a:t>정책 수립 및 기능 흐름</a:t>
            </a:r>
            <a:endParaRPr lang="en-US" sz="1300" dirty="0"/>
          </a:p>
        </p:txBody>
      </p:sp>
      <p:sp>
        <p:nvSpPr>
          <p:cNvPr id="52" name="Shape 2">
            <a:extLst>
              <a:ext uri="{FF2B5EF4-FFF2-40B4-BE49-F238E27FC236}">
                <a16:creationId xmlns:a16="http://schemas.microsoft.com/office/drawing/2014/main" id="{AD57E98A-6ABE-8A38-6943-4D3E80F40703}"/>
              </a:ext>
            </a:extLst>
          </p:cNvPr>
          <p:cNvSpPr/>
          <p:nvPr/>
        </p:nvSpPr>
        <p:spPr>
          <a:xfrm>
            <a:off x="411480" y="2739245"/>
            <a:ext cx="8321040" cy="3977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3">
            <a:extLst>
              <a:ext uri="{FF2B5EF4-FFF2-40B4-BE49-F238E27FC236}">
                <a16:creationId xmlns:a16="http://schemas.microsoft.com/office/drawing/2014/main" id="{A095712B-102E-E924-9C3E-A369EA9B722B}"/>
              </a:ext>
            </a:extLst>
          </p:cNvPr>
          <p:cNvSpPr/>
          <p:nvPr/>
        </p:nvSpPr>
        <p:spPr>
          <a:xfrm>
            <a:off x="411480" y="2739245"/>
            <a:ext cx="54864" cy="397764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4">
            <a:extLst>
              <a:ext uri="{FF2B5EF4-FFF2-40B4-BE49-F238E27FC236}">
                <a16:creationId xmlns:a16="http://schemas.microsoft.com/office/drawing/2014/main" id="{E5A35EA5-DD50-5739-14E6-F3DFE26A5CB3}"/>
              </a:ext>
            </a:extLst>
          </p:cNvPr>
          <p:cNvSpPr/>
          <p:nvPr/>
        </p:nvSpPr>
        <p:spPr>
          <a:xfrm>
            <a:off x="530352" y="2771232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6A6"/>
                </a:solidFill>
              </a:rPr>
              <a:t>05</a:t>
            </a:r>
            <a:endParaRPr lang="en-US" sz="1600" dirty="0"/>
          </a:p>
        </p:txBody>
      </p:sp>
      <p:sp>
        <p:nvSpPr>
          <p:cNvPr id="55" name="Text 5">
            <a:extLst>
              <a:ext uri="{FF2B5EF4-FFF2-40B4-BE49-F238E27FC236}">
                <a16:creationId xmlns:a16="http://schemas.microsoft.com/office/drawing/2014/main" id="{81703B84-7441-1BB7-0E85-A390AFA73470}"/>
              </a:ext>
            </a:extLst>
          </p:cNvPr>
          <p:cNvSpPr/>
          <p:nvPr/>
        </p:nvSpPr>
        <p:spPr>
          <a:xfrm>
            <a:off x="1097280" y="2784965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A2E4A"/>
                </a:solidFill>
              </a:rPr>
              <a:t>발생 리스크 및 대응 방안</a:t>
            </a:r>
            <a:endParaRPr lang="en-US" sz="1300" dirty="0"/>
          </a:p>
        </p:txBody>
      </p:sp>
      <p:sp>
        <p:nvSpPr>
          <p:cNvPr id="56" name="Shape 2">
            <a:extLst>
              <a:ext uri="{FF2B5EF4-FFF2-40B4-BE49-F238E27FC236}">
                <a16:creationId xmlns:a16="http://schemas.microsoft.com/office/drawing/2014/main" id="{23131EB4-A55E-508D-9B97-4DB1039A9B5A}"/>
              </a:ext>
            </a:extLst>
          </p:cNvPr>
          <p:cNvSpPr/>
          <p:nvPr/>
        </p:nvSpPr>
        <p:spPr>
          <a:xfrm>
            <a:off x="411480" y="3271554"/>
            <a:ext cx="8321040" cy="3977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3">
            <a:extLst>
              <a:ext uri="{FF2B5EF4-FFF2-40B4-BE49-F238E27FC236}">
                <a16:creationId xmlns:a16="http://schemas.microsoft.com/office/drawing/2014/main" id="{E8815CC2-4871-4D28-4E96-B405215F6AF1}"/>
              </a:ext>
            </a:extLst>
          </p:cNvPr>
          <p:cNvSpPr/>
          <p:nvPr/>
        </p:nvSpPr>
        <p:spPr>
          <a:xfrm>
            <a:off x="411480" y="3271554"/>
            <a:ext cx="54864" cy="397764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4">
            <a:extLst>
              <a:ext uri="{FF2B5EF4-FFF2-40B4-BE49-F238E27FC236}">
                <a16:creationId xmlns:a16="http://schemas.microsoft.com/office/drawing/2014/main" id="{3F5694C0-07AA-9BFB-1DA2-7631D8295202}"/>
              </a:ext>
            </a:extLst>
          </p:cNvPr>
          <p:cNvSpPr/>
          <p:nvPr/>
        </p:nvSpPr>
        <p:spPr>
          <a:xfrm>
            <a:off x="530352" y="3303541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6A6"/>
                </a:solidFill>
              </a:rPr>
              <a:t>06</a:t>
            </a:r>
            <a:endParaRPr lang="en-US" sz="1600" dirty="0"/>
          </a:p>
        </p:txBody>
      </p:sp>
      <p:sp>
        <p:nvSpPr>
          <p:cNvPr id="59" name="Text 5">
            <a:extLst>
              <a:ext uri="{FF2B5EF4-FFF2-40B4-BE49-F238E27FC236}">
                <a16:creationId xmlns:a16="http://schemas.microsoft.com/office/drawing/2014/main" id="{EB856494-2C9A-81A6-983C-0476D00196DA}"/>
              </a:ext>
            </a:extLst>
          </p:cNvPr>
          <p:cNvSpPr/>
          <p:nvPr/>
        </p:nvSpPr>
        <p:spPr>
          <a:xfrm>
            <a:off x="1097280" y="3317274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A2E4A"/>
                </a:solidFill>
              </a:rPr>
              <a:t>기대 효과</a:t>
            </a:r>
            <a:endParaRPr lang="en-US" sz="1300" dirty="0"/>
          </a:p>
        </p:txBody>
      </p:sp>
      <p:sp>
        <p:nvSpPr>
          <p:cNvPr id="60" name="Shape 2">
            <a:extLst>
              <a:ext uri="{FF2B5EF4-FFF2-40B4-BE49-F238E27FC236}">
                <a16:creationId xmlns:a16="http://schemas.microsoft.com/office/drawing/2014/main" id="{42095B64-61B9-A072-228E-DEF361A79ACE}"/>
              </a:ext>
            </a:extLst>
          </p:cNvPr>
          <p:cNvSpPr/>
          <p:nvPr/>
        </p:nvSpPr>
        <p:spPr>
          <a:xfrm>
            <a:off x="411480" y="3786682"/>
            <a:ext cx="8321040" cy="3977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3">
            <a:extLst>
              <a:ext uri="{FF2B5EF4-FFF2-40B4-BE49-F238E27FC236}">
                <a16:creationId xmlns:a16="http://schemas.microsoft.com/office/drawing/2014/main" id="{68501D1D-C4F5-E492-8C73-2FB1B199A903}"/>
              </a:ext>
            </a:extLst>
          </p:cNvPr>
          <p:cNvSpPr/>
          <p:nvPr/>
        </p:nvSpPr>
        <p:spPr>
          <a:xfrm>
            <a:off x="411480" y="3786682"/>
            <a:ext cx="54864" cy="397764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4">
            <a:extLst>
              <a:ext uri="{FF2B5EF4-FFF2-40B4-BE49-F238E27FC236}">
                <a16:creationId xmlns:a16="http://schemas.microsoft.com/office/drawing/2014/main" id="{05D74E0C-F5EA-3FAD-92B9-C3E9074F0F96}"/>
              </a:ext>
            </a:extLst>
          </p:cNvPr>
          <p:cNvSpPr/>
          <p:nvPr/>
        </p:nvSpPr>
        <p:spPr>
          <a:xfrm>
            <a:off x="530352" y="3818669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6A6"/>
                </a:solidFill>
              </a:rPr>
              <a:t>07</a:t>
            </a:r>
            <a:endParaRPr lang="en-US" sz="1600" dirty="0"/>
          </a:p>
        </p:txBody>
      </p:sp>
      <p:sp>
        <p:nvSpPr>
          <p:cNvPr id="63" name="Text 5">
            <a:extLst>
              <a:ext uri="{FF2B5EF4-FFF2-40B4-BE49-F238E27FC236}">
                <a16:creationId xmlns:a16="http://schemas.microsoft.com/office/drawing/2014/main" id="{97E038F4-A8BD-67A3-B933-42DE41C49A21}"/>
              </a:ext>
            </a:extLst>
          </p:cNvPr>
          <p:cNvSpPr/>
          <p:nvPr/>
        </p:nvSpPr>
        <p:spPr>
          <a:xfrm>
            <a:off x="1097280" y="383240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A2E4A"/>
                </a:solidFill>
              </a:rPr>
              <a:t>예시 화면</a:t>
            </a:r>
            <a:endParaRPr lang="en-US" sz="1300" dirty="0"/>
          </a:p>
        </p:txBody>
      </p:sp>
      <p:sp>
        <p:nvSpPr>
          <p:cNvPr id="64" name="Shape 2">
            <a:extLst>
              <a:ext uri="{FF2B5EF4-FFF2-40B4-BE49-F238E27FC236}">
                <a16:creationId xmlns:a16="http://schemas.microsoft.com/office/drawing/2014/main" id="{16700873-9FE4-0DDE-5F41-B86019FC93C7}"/>
              </a:ext>
            </a:extLst>
          </p:cNvPr>
          <p:cNvSpPr/>
          <p:nvPr/>
        </p:nvSpPr>
        <p:spPr>
          <a:xfrm>
            <a:off x="411480" y="4322929"/>
            <a:ext cx="8321040" cy="3977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3">
            <a:extLst>
              <a:ext uri="{FF2B5EF4-FFF2-40B4-BE49-F238E27FC236}">
                <a16:creationId xmlns:a16="http://schemas.microsoft.com/office/drawing/2014/main" id="{665B83DF-5B3F-B9F9-289C-99A7B0127990}"/>
              </a:ext>
            </a:extLst>
          </p:cNvPr>
          <p:cNvSpPr/>
          <p:nvPr/>
        </p:nvSpPr>
        <p:spPr>
          <a:xfrm>
            <a:off x="411480" y="4322929"/>
            <a:ext cx="54864" cy="397764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4">
            <a:extLst>
              <a:ext uri="{FF2B5EF4-FFF2-40B4-BE49-F238E27FC236}">
                <a16:creationId xmlns:a16="http://schemas.microsoft.com/office/drawing/2014/main" id="{9124933C-F178-8277-41B0-34DD38EF21EB}"/>
              </a:ext>
            </a:extLst>
          </p:cNvPr>
          <p:cNvSpPr/>
          <p:nvPr/>
        </p:nvSpPr>
        <p:spPr>
          <a:xfrm>
            <a:off x="530352" y="4354916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6A6"/>
                </a:solidFill>
              </a:rPr>
              <a:t>08</a:t>
            </a:r>
            <a:endParaRPr lang="en-US" sz="1600" dirty="0"/>
          </a:p>
        </p:txBody>
      </p:sp>
      <p:sp>
        <p:nvSpPr>
          <p:cNvPr id="67" name="Text 5">
            <a:extLst>
              <a:ext uri="{FF2B5EF4-FFF2-40B4-BE49-F238E27FC236}">
                <a16:creationId xmlns:a16="http://schemas.microsoft.com/office/drawing/2014/main" id="{8F6E8B23-9213-AE4D-500C-1C626C328BE0}"/>
              </a:ext>
            </a:extLst>
          </p:cNvPr>
          <p:cNvSpPr/>
          <p:nvPr/>
        </p:nvSpPr>
        <p:spPr>
          <a:xfrm>
            <a:off x="1097280" y="4368649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A2E4A"/>
                </a:solidFill>
              </a:rPr>
              <a:t>추가 질문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E4A"/>
                </a:solidFill>
              </a:rPr>
              <a:t>01  </a:t>
            </a:r>
            <a:r>
              <a:rPr lang="ko-KR" altLang="en-US" sz="2000" b="1" dirty="0">
                <a:solidFill>
                  <a:srgbClr val="1A2E4A"/>
                </a:solidFill>
              </a:rPr>
              <a:t>제안 배경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685800"/>
            <a:ext cx="8321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5666CCB-FCCE-4E85-4550-FCE090145E93}"/>
              </a:ext>
            </a:extLst>
          </p:cNvPr>
          <p:cNvSpPr txBox="1"/>
          <p:nvPr/>
        </p:nvSpPr>
        <p:spPr>
          <a:xfrm>
            <a:off x="459607" y="910869"/>
            <a:ext cx="5996195" cy="1546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050" b="1" dirty="0"/>
              <a:t>'</a:t>
            </a:r>
            <a:r>
              <a:rPr lang="ko-KR" altLang="ko-KR" sz="1050" b="1" dirty="0" err="1"/>
              <a:t>N잡러</a:t>
            </a:r>
            <a:r>
              <a:rPr lang="ko-KR" altLang="ko-KR" sz="1050" b="1" dirty="0"/>
              <a:t>/초</a:t>
            </a:r>
            <a:r>
              <a:rPr lang="ko-KR" altLang="en-US" sz="1050" b="1" dirty="0"/>
              <a:t>기 </a:t>
            </a:r>
            <a:r>
              <a:rPr lang="en-US" altLang="ko-KR" sz="1050" b="1" dirty="0"/>
              <a:t>1</a:t>
            </a:r>
            <a:r>
              <a:rPr lang="ko-KR" altLang="en-US" sz="1050" b="1" dirty="0"/>
              <a:t>인</a:t>
            </a:r>
            <a:r>
              <a:rPr lang="ko-KR" altLang="ko-KR" sz="1050" b="1" dirty="0"/>
              <a:t> </a:t>
            </a:r>
            <a:r>
              <a:rPr lang="ko-KR" altLang="ko-KR" sz="1050" b="1" dirty="0" err="1"/>
              <a:t>셀러’의</a:t>
            </a:r>
            <a:r>
              <a:rPr lang="en-US" altLang="ko-KR" sz="1050" b="1" dirty="0"/>
              <a:t> </a:t>
            </a:r>
            <a:r>
              <a:rPr lang="ko-KR" altLang="en-US" sz="1050" b="1" dirty="0"/>
              <a:t>쇼핑몰 확장 </a:t>
            </a:r>
            <a:r>
              <a:rPr lang="en-US" altLang="ko-KR" sz="1050" b="1" dirty="0"/>
              <a:t>: </a:t>
            </a:r>
            <a:r>
              <a:rPr lang="ko-KR" altLang="en-US" sz="1050" b="1" dirty="0"/>
              <a:t>가격 관리 편의성 및 </a:t>
            </a:r>
            <a:r>
              <a:rPr lang="ko-KR" altLang="en-US" sz="1050" b="1" dirty="0" err="1"/>
              <a:t>역마진</a:t>
            </a:r>
            <a:r>
              <a:rPr lang="ko-KR" altLang="en-US" sz="1050" b="1" dirty="0"/>
              <a:t> 부담 해소가 핵심</a:t>
            </a:r>
            <a:endParaRPr lang="en-US" altLang="ko-KR" sz="1050" b="1" dirty="0"/>
          </a:p>
          <a:p>
            <a:pPr>
              <a:buNone/>
            </a:pPr>
            <a:endParaRPr lang="en-US" altLang="ko-KR" sz="1050" b="1" dirty="0"/>
          </a:p>
          <a:p>
            <a:pPr>
              <a:buNone/>
            </a:pPr>
            <a:r>
              <a:rPr lang="ko-KR" altLang="en-US" sz="1050" b="1" dirty="0"/>
              <a:t>초기 셀러들은 재고 부담을 줄이기 위해 </a:t>
            </a:r>
            <a:r>
              <a:rPr lang="ko-KR" altLang="en-US" sz="1050" b="1" dirty="0" err="1"/>
              <a:t>무재고</a:t>
            </a:r>
            <a:r>
              <a:rPr lang="ko-KR" altLang="en-US" sz="1050" b="1" dirty="0"/>
              <a:t> 위탁 판매 방식을 진행</a:t>
            </a:r>
            <a:endParaRPr lang="en-US" altLang="ko-KR" sz="1050" b="1" dirty="0"/>
          </a:p>
          <a:p>
            <a:pPr>
              <a:buNone/>
            </a:pPr>
            <a:r>
              <a:rPr lang="ko-KR" altLang="en-US" sz="1050" b="1" dirty="0"/>
              <a:t>초기 셀러는 솔루션 사용 경험이 많지 않으므로 복잡한 마켓 수수료와 </a:t>
            </a:r>
            <a:r>
              <a:rPr lang="ko-KR" altLang="en-US" sz="1050" b="1" dirty="0" err="1"/>
              <a:t>역마진</a:t>
            </a:r>
            <a:r>
              <a:rPr lang="ko-KR" altLang="en-US" sz="1050" b="1" dirty="0"/>
              <a:t> 우려에 대한 부담 </a:t>
            </a:r>
            <a:endParaRPr lang="en-US" altLang="ko-KR" sz="1050" b="1" dirty="0"/>
          </a:p>
          <a:p>
            <a:pPr>
              <a:buNone/>
            </a:pPr>
            <a:r>
              <a:rPr lang="ko-KR" altLang="en-US" sz="1050" b="1" dirty="0"/>
              <a:t>적은 리소스로 빠르게 대량 상품을 쇼핑몰에 등록할 수 있는 방법 필요</a:t>
            </a:r>
            <a:endParaRPr lang="en-US" altLang="ko-KR" sz="1050" b="1" dirty="0"/>
          </a:p>
          <a:p>
            <a:pPr>
              <a:buNone/>
            </a:pPr>
            <a:endParaRPr lang="en-US" altLang="ko-KR" sz="1050" b="1" dirty="0"/>
          </a:p>
          <a:p>
            <a:pPr>
              <a:buNone/>
            </a:pPr>
            <a:r>
              <a:rPr lang="ko-KR" altLang="ko-KR" sz="1050" b="1" dirty="0"/>
              <a:t>[제안 방향 (</a:t>
            </a:r>
            <a:r>
              <a:rPr lang="ko-KR" altLang="ko-KR" sz="1050" b="1" dirty="0" err="1"/>
              <a:t>To-be</a:t>
            </a:r>
            <a:r>
              <a:rPr lang="ko-KR" altLang="ko-KR" sz="1050" b="1" dirty="0"/>
              <a:t>)]</a:t>
            </a:r>
            <a:endParaRPr lang="ko-KR" altLang="ko-KR" sz="105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ko-KR" sz="1050" b="1" dirty="0"/>
              <a:t>"</a:t>
            </a:r>
            <a:r>
              <a:rPr lang="ko-KR" altLang="en-US" sz="1050" b="1" dirty="0"/>
              <a:t>쇼핑몰 계정 별로</a:t>
            </a:r>
            <a:r>
              <a:rPr lang="ko-KR" altLang="ko-KR" sz="1050" b="1" dirty="0"/>
              <a:t> 마진율</a:t>
            </a:r>
            <a:r>
              <a:rPr lang="ko-KR" altLang="en-US" sz="1050" b="1" dirty="0"/>
              <a:t>을 미리 설정</a:t>
            </a:r>
            <a:r>
              <a:rPr lang="ko-KR" altLang="ko-KR" sz="1050" b="1" dirty="0"/>
              <a:t>하면 마켓별 판매가를 자동 </a:t>
            </a:r>
            <a:r>
              <a:rPr lang="ko-KR" altLang="en-US" sz="1050" b="1" dirty="0"/>
              <a:t>반영</a:t>
            </a:r>
            <a:r>
              <a:rPr lang="ko-KR" altLang="ko-KR" sz="1050" b="1" dirty="0"/>
              <a:t>하는 </a:t>
            </a:r>
            <a:r>
              <a:rPr lang="ko-KR" altLang="en-US" sz="1050" b="1" dirty="0"/>
              <a:t>기능</a:t>
            </a:r>
            <a:r>
              <a:rPr lang="ko-KR" altLang="ko-KR" sz="1050" b="1" dirty="0"/>
              <a:t> 도입“</a:t>
            </a:r>
            <a:endParaRPr lang="en-US" altLang="ko-KR" sz="1050" b="1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ko-KR" sz="1050" dirty="0"/>
              <a:t>사방넷의 가격 정책 수식을 </a:t>
            </a:r>
            <a:r>
              <a:rPr lang="ko-KR" altLang="ko-KR" sz="1050" dirty="0" err="1"/>
              <a:t>라이트하게</a:t>
            </a:r>
            <a:r>
              <a:rPr lang="ko-KR" altLang="ko-KR" sz="1050" dirty="0"/>
              <a:t> </a:t>
            </a:r>
            <a:r>
              <a:rPr lang="ko-KR" altLang="en-US" sz="1050" dirty="0"/>
              <a:t>제공</a:t>
            </a:r>
            <a:endParaRPr lang="en-US" altLang="ko-KR" sz="105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C1E4E1-8782-683A-F0F5-F4FF79B02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6FA65C4-F790-05E3-90CA-E4BF3202B61C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5328905-6FA9-A19C-66ED-E4958C0C81C0}"/>
              </a:ext>
            </a:extLst>
          </p:cNvPr>
          <p:cNvSpPr/>
          <p:nvPr/>
        </p:nvSpPr>
        <p:spPr>
          <a:xfrm>
            <a:off x="41148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A2E4A"/>
                </a:solidFill>
              </a:rPr>
              <a:t>02  </a:t>
            </a:r>
            <a:r>
              <a:rPr lang="en-US" altLang="ko-KR" sz="2000" b="1" dirty="0">
                <a:solidFill>
                  <a:srgbClr val="1A2E4A"/>
                </a:solidFill>
              </a:rPr>
              <a:t>UX </a:t>
            </a:r>
            <a:r>
              <a:rPr lang="ko-KR" altLang="en-US" sz="2000" b="1" dirty="0">
                <a:solidFill>
                  <a:srgbClr val="1A2E4A"/>
                </a:solidFill>
              </a:rPr>
              <a:t>문제 정의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3CB9875-5A90-FB8B-5AA4-A09EB2E6BD5A}"/>
              </a:ext>
            </a:extLst>
          </p:cNvPr>
          <p:cNvSpPr/>
          <p:nvPr/>
        </p:nvSpPr>
        <p:spPr>
          <a:xfrm>
            <a:off x="411480" y="685800"/>
            <a:ext cx="8321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0E4CDD-CF56-B4DF-8A18-5CC65D31EC39}"/>
              </a:ext>
            </a:extLst>
          </p:cNvPr>
          <p:cNvSpPr txBox="1"/>
          <p:nvPr/>
        </p:nvSpPr>
        <p:spPr>
          <a:xfrm>
            <a:off x="411480" y="949678"/>
            <a:ext cx="752936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1100" b="1" dirty="0"/>
              <a:t>마켓 수수료 및 마진율 자동화 기능 부재</a:t>
            </a:r>
            <a:endParaRPr lang="ko-KR" altLang="ko-KR" sz="11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ko-KR" sz="1100" dirty="0"/>
              <a:t>상품 등록 및 수정 </a:t>
            </a:r>
            <a:r>
              <a:rPr lang="ko-KR" altLang="en-US" sz="1100" dirty="0"/>
              <a:t>시</a:t>
            </a:r>
            <a:r>
              <a:rPr lang="en-US" altLang="ko-KR" sz="1100" dirty="0"/>
              <a:t>,</a:t>
            </a:r>
            <a:r>
              <a:rPr lang="ko-KR" altLang="ko-KR" sz="1100" dirty="0"/>
              <a:t> </a:t>
            </a:r>
            <a:r>
              <a:rPr lang="ko-KR" altLang="en-US" sz="1100" dirty="0"/>
              <a:t>쇼핑몰</a:t>
            </a:r>
            <a:r>
              <a:rPr lang="ko-KR" altLang="ko-KR" sz="1100" dirty="0"/>
              <a:t>별</a:t>
            </a:r>
            <a:r>
              <a:rPr lang="ko-KR" altLang="en-US" sz="1100" dirty="0"/>
              <a:t>로 각각 수수료를 직접 계산하여 판매가를 입력해</a:t>
            </a:r>
            <a:r>
              <a:rPr lang="ko-KR" altLang="ko-KR" sz="1100" dirty="0"/>
              <a:t>야 함.</a:t>
            </a:r>
            <a:endParaRPr lang="en-US" altLang="ko-KR" sz="11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100" dirty="0"/>
              <a:t>엑셀을 통해 쇼핑몰별로 수수료율을 적용한 다음 계산된 결과 값을 </a:t>
            </a:r>
            <a:r>
              <a:rPr lang="ko-KR" altLang="en-US" sz="1100" dirty="0" err="1"/>
              <a:t>사방넷</a:t>
            </a:r>
            <a:r>
              <a:rPr lang="ko-KR" altLang="en-US" sz="1100" dirty="0"/>
              <a:t> 미니에 일일이 붙여 넣는 작업 필요</a:t>
            </a:r>
            <a:endParaRPr lang="en-US" altLang="ko-KR" sz="11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100" dirty="0"/>
              <a:t>사방넷에는 유사 기능이 존재하나</a:t>
            </a:r>
            <a:r>
              <a:rPr lang="en-US" altLang="ko-KR" sz="1100" dirty="0"/>
              <a:t>, </a:t>
            </a:r>
            <a:r>
              <a:rPr lang="ko-KR" altLang="en-US" sz="1100" dirty="0" err="1"/>
              <a:t>사방넷</a:t>
            </a:r>
            <a:r>
              <a:rPr lang="ko-KR" altLang="en-US" sz="1100" dirty="0"/>
              <a:t> 미니 사용자에 맞게 간단한 수식으로 판매가 마진 반영하는 기능 제공 필요</a:t>
            </a:r>
            <a:endParaRPr lang="en-US" altLang="ko-KR" sz="1100" dirty="0"/>
          </a:p>
        </p:txBody>
      </p:sp>
    </p:spTree>
    <p:extLst>
      <p:ext uri="{BB962C8B-B14F-4D97-AF65-F5344CB8AC3E}">
        <p14:creationId xmlns:p14="http://schemas.microsoft.com/office/powerpoint/2010/main" val="798787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8BF94B-347C-C1F1-E8E3-AA413493F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0004B89-252B-5ECB-FBBF-D465ABBD8E5C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AD32D78-20B1-AF4C-8C94-FDC403FD0F8B}"/>
              </a:ext>
            </a:extLst>
          </p:cNvPr>
          <p:cNvSpPr/>
          <p:nvPr/>
        </p:nvSpPr>
        <p:spPr>
          <a:xfrm>
            <a:off x="41148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A2E4A"/>
                </a:solidFill>
              </a:rPr>
              <a:t>03  </a:t>
            </a:r>
            <a:r>
              <a:rPr lang="ko-KR" altLang="en-US" sz="2000" b="1" dirty="0">
                <a:solidFill>
                  <a:srgbClr val="1A2E4A"/>
                </a:solidFill>
              </a:rPr>
              <a:t>개선 목적 및 방향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243B4D3-1C09-CC61-EF07-373320D6058F}"/>
              </a:ext>
            </a:extLst>
          </p:cNvPr>
          <p:cNvSpPr/>
          <p:nvPr/>
        </p:nvSpPr>
        <p:spPr>
          <a:xfrm>
            <a:off x="411480" y="685800"/>
            <a:ext cx="8321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0358DC-60E3-98EB-50FB-9A4766B9F151}"/>
              </a:ext>
            </a:extLst>
          </p:cNvPr>
          <p:cNvSpPr txBox="1"/>
          <p:nvPr/>
        </p:nvSpPr>
        <p:spPr>
          <a:xfrm>
            <a:off x="411479" y="863747"/>
            <a:ext cx="7687491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100" b="1" dirty="0"/>
              <a:t>🚀 3대 핵심 개선 방향</a:t>
            </a:r>
          </a:p>
          <a:p>
            <a:pPr>
              <a:buNone/>
            </a:pPr>
            <a:r>
              <a:rPr lang="ko-KR" altLang="ko-KR" sz="1100" b="1" dirty="0"/>
              <a:t>1. 프로세스 자동화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100" b="1" dirty="0"/>
              <a:t>쇼핑몰 상품등록 시</a:t>
            </a:r>
            <a:r>
              <a:rPr lang="en-US" altLang="ko-KR" sz="1100" b="1" dirty="0"/>
              <a:t>, </a:t>
            </a:r>
            <a:r>
              <a:rPr lang="ko-KR" altLang="en-US" sz="1100" b="1" dirty="0"/>
              <a:t>입력된 판매가를 기준으로 </a:t>
            </a:r>
            <a:r>
              <a:rPr lang="ko-KR" altLang="ko-KR" sz="1100" dirty="0"/>
              <a:t>판매가 </a:t>
            </a:r>
            <a:r>
              <a:rPr lang="ko-KR" altLang="ko-KR" sz="1100" b="1" dirty="0"/>
              <a:t>실시간 자동 </a:t>
            </a:r>
            <a:r>
              <a:rPr lang="ko-KR" altLang="en-US" sz="1100" b="1" dirty="0"/>
              <a:t>계</a:t>
            </a:r>
            <a:r>
              <a:rPr lang="ko-KR" altLang="ko-KR" sz="1100" b="1" dirty="0"/>
              <a:t>산 및 일괄 </a:t>
            </a:r>
            <a:r>
              <a:rPr lang="ko-KR" altLang="en-US" sz="1100" b="1" dirty="0"/>
              <a:t>반영</a:t>
            </a:r>
            <a:endParaRPr lang="en-US" altLang="ko-KR" sz="1100" b="1" dirty="0"/>
          </a:p>
          <a:p>
            <a:pPr>
              <a:buFont typeface="Arial" panose="020B0604020202020204" pitchFamily="34" charset="0"/>
              <a:buChar char="•"/>
            </a:pPr>
            <a:endParaRPr lang="ko-KR" altLang="ko-KR" sz="1100" dirty="0"/>
          </a:p>
          <a:p>
            <a:pPr>
              <a:buNone/>
            </a:pPr>
            <a:r>
              <a:rPr lang="ko-KR" altLang="ko-KR" sz="1100" b="1" dirty="0"/>
              <a:t>2. </a:t>
            </a:r>
            <a:r>
              <a:rPr lang="ko-KR" altLang="en-US" sz="1100" b="1" dirty="0"/>
              <a:t>직관적 </a:t>
            </a:r>
            <a:r>
              <a:rPr lang="en-US" altLang="ko-KR" sz="1100" b="1" dirty="0"/>
              <a:t>UI/</a:t>
            </a:r>
            <a:r>
              <a:rPr lang="ko-KR" altLang="ko-KR" sz="1100" b="1" dirty="0"/>
              <a:t>UX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ko-KR" sz="1100" dirty="0"/>
              <a:t>초보 셀러</a:t>
            </a:r>
            <a:r>
              <a:rPr lang="ko-KR" altLang="en-US" sz="1100" dirty="0"/>
              <a:t> 친화적일 수 있도록</a:t>
            </a:r>
            <a:r>
              <a:rPr lang="en-US" altLang="ko-KR" sz="1100" b="1" dirty="0"/>
              <a:t> </a:t>
            </a:r>
            <a:r>
              <a:rPr lang="ko-KR" altLang="ko-KR" sz="1100" b="1" dirty="0"/>
              <a:t>마진율(%) </a:t>
            </a:r>
            <a:r>
              <a:rPr lang="ko-KR" altLang="en-US" sz="1100" b="1" dirty="0"/>
              <a:t>및</a:t>
            </a:r>
            <a:r>
              <a:rPr lang="ko-KR" altLang="ko-KR" sz="1100" dirty="0"/>
              <a:t> </a:t>
            </a:r>
            <a:r>
              <a:rPr lang="ko-KR" altLang="en-US" sz="1100" b="1" dirty="0" err="1"/>
              <a:t>마켓수수료율</a:t>
            </a:r>
            <a:r>
              <a:rPr lang="en-US" altLang="ko-KR" sz="1100" b="1" dirty="0"/>
              <a:t>(%)</a:t>
            </a:r>
            <a:r>
              <a:rPr lang="ko-KR" altLang="ko-KR" sz="1100" b="1" dirty="0"/>
              <a:t> </a:t>
            </a:r>
            <a:r>
              <a:rPr lang="ko-KR" altLang="ko-KR" sz="1100" b="1" dirty="0" err="1"/>
              <a:t>입력창</a:t>
            </a:r>
            <a:r>
              <a:rPr lang="ko-KR" altLang="ko-KR" sz="1100" dirty="0"/>
              <a:t> </a:t>
            </a:r>
            <a:r>
              <a:rPr lang="ko-KR" altLang="en-US" sz="1100" dirty="0"/>
              <a:t>만 </a:t>
            </a:r>
            <a:r>
              <a:rPr lang="ko-KR" altLang="ko-KR" sz="1100" dirty="0"/>
              <a:t>제공</a:t>
            </a:r>
            <a:r>
              <a:rPr lang="en-US" altLang="ko-KR" sz="1100" dirty="0"/>
              <a:t> (</a:t>
            </a:r>
            <a:r>
              <a:rPr lang="ko-KR" altLang="en-US" sz="1100" dirty="0"/>
              <a:t>복잡한 설정 값 제외</a:t>
            </a:r>
            <a:r>
              <a:rPr lang="en-US" altLang="ko-KR" sz="11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endParaRPr lang="ko-KR" altLang="ko-KR" sz="1100" dirty="0"/>
          </a:p>
          <a:p>
            <a:pPr>
              <a:buNone/>
            </a:pPr>
            <a:r>
              <a:rPr lang="ko-KR" altLang="ko-KR" sz="1100" b="1" dirty="0"/>
              <a:t>3. </a:t>
            </a:r>
            <a:r>
              <a:rPr lang="ko-KR" altLang="en-US" sz="1100" b="1" dirty="0"/>
              <a:t>심리적 안전망 제공</a:t>
            </a:r>
            <a:endParaRPr lang="ko-KR" altLang="ko-KR" sz="11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100" dirty="0"/>
              <a:t>마진 설정 시 </a:t>
            </a:r>
            <a:r>
              <a:rPr lang="ko-KR" altLang="en-US" sz="1100" dirty="0" err="1"/>
              <a:t>역마진</a:t>
            </a:r>
            <a:r>
              <a:rPr lang="ko-KR" altLang="en-US" sz="1100" dirty="0"/>
              <a:t> 방지 필터링하는 유효성 제공</a:t>
            </a:r>
            <a:endParaRPr lang="ko-KR" altLang="ko-KR" sz="1100" dirty="0"/>
          </a:p>
        </p:txBody>
      </p:sp>
    </p:spTree>
    <p:extLst>
      <p:ext uri="{BB962C8B-B14F-4D97-AF65-F5344CB8AC3E}">
        <p14:creationId xmlns:p14="http://schemas.microsoft.com/office/powerpoint/2010/main" val="597318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4C196A-6EB6-D139-BC5D-121CB0F52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8A9FEE8-76A9-15F9-F32D-E031CD596938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D73C70E-2153-07E7-BECE-F92C0B48434A}"/>
              </a:ext>
            </a:extLst>
          </p:cNvPr>
          <p:cNvSpPr/>
          <p:nvPr/>
        </p:nvSpPr>
        <p:spPr>
          <a:xfrm>
            <a:off x="41148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A2E4A"/>
                </a:solidFill>
              </a:rPr>
              <a:t>04  </a:t>
            </a:r>
            <a:r>
              <a:rPr lang="ko-KR" altLang="en-US" sz="2000" b="1" dirty="0">
                <a:solidFill>
                  <a:srgbClr val="1A2E4A"/>
                </a:solidFill>
              </a:rPr>
              <a:t>정책 수립 및 기능 흐름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6B86383-F04E-102F-0FFF-28EF284D49BE}"/>
              </a:ext>
            </a:extLst>
          </p:cNvPr>
          <p:cNvSpPr/>
          <p:nvPr/>
        </p:nvSpPr>
        <p:spPr>
          <a:xfrm>
            <a:off x="411480" y="685800"/>
            <a:ext cx="8321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BAE919-0C96-03A5-7646-4C09B60F4B56}"/>
              </a:ext>
            </a:extLst>
          </p:cNvPr>
          <p:cNvSpPr txBox="1"/>
          <p:nvPr/>
        </p:nvSpPr>
        <p:spPr>
          <a:xfrm>
            <a:off x="457060" y="818723"/>
            <a:ext cx="692001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100" b="1" dirty="0"/>
              <a:t>1.</a:t>
            </a:r>
            <a:r>
              <a:rPr lang="ko-KR" altLang="en-US" sz="1100" b="1" dirty="0"/>
              <a:t> 정책 수립 </a:t>
            </a:r>
            <a:r>
              <a:rPr lang="en-US" altLang="ko-KR" sz="1100" b="1" dirty="0"/>
              <a:t>(</a:t>
            </a:r>
            <a:r>
              <a:rPr lang="ko-KR" altLang="en-US" sz="1100" b="1" dirty="0"/>
              <a:t>가격 산출 알고리즘</a:t>
            </a:r>
            <a:r>
              <a:rPr lang="en-US" altLang="ko-KR" sz="1100" b="1" dirty="0"/>
              <a:t>)</a:t>
            </a:r>
          </a:p>
          <a:p>
            <a:r>
              <a:rPr lang="ko-KR" altLang="en-US" sz="1100" dirty="0"/>
              <a:t>시스템 </a:t>
            </a:r>
            <a:r>
              <a:rPr lang="ko-KR" altLang="en-US" sz="1100" dirty="0" err="1"/>
              <a:t>백엔드에서</a:t>
            </a:r>
            <a:r>
              <a:rPr lang="ko-KR" altLang="en-US" sz="1100" dirty="0"/>
              <a:t> 쇼핑몰 카테고리 수수료 및 마진율을 대입하여 최종 판매가를 자동 반영해주는 정책 수립</a:t>
            </a:r>
            <a:endParaRPr lang="ko-KR" altLang="ko-KR" sz="1100" dirty="0"/>
          </a:p>
          <a:p>
            <a:pPr>
              <a:buNone/>
            </a:pPr>
            <a:endParaRPr lang="en-US" altLang="ko-KR" sz="1100" dirty="0"/>
          </a:p>
          <a:p>
            <a:pPr>
              <a:buNone/>
            </a:pPr>
            <a:r>
              <a:rPr lang="ko-KR" altLang="en-US" sz="1100" dirty="0"/>
              <a:t>쇼핑몰별 최종 판매가를 구하기 위한 정책 수식</a:t>
            </a:r>
            <a:endParaRPr lang="ko-KR" altLang="ko-KR" sz="1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AFF3E2-B339-0F42-4353-52830C1E0D8F}"/>
                  </a:ext>
                </a:extLst>
              </p:cNvPr>
              <p:cNvSpPr txBox="1"/>
              <p:nvPr/>
            </p:nvSpPr>
            <p:spPr>
              <a:xfrm>
                <a:off x="989039" y="1738274"/>
                <a:ext cx="1268039" cy="5275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(1+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AFF3E2-B339-0F42-4353-52830C1E0D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039" y="1738274"/>
                <a:ext cx="1268039" cy="5275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337420F-E8A7-E4D2-B5DB-92AE5AD9058D}"/>
                  </a:ext>
                </a:extLst>
              </p:cNvPr>
              <p:cNvSpPr txBox="1"/>
              <p:nvPr/>
            </p:nvSpPr>
            <p:spPr>
              <a:xfrm>
                <a:off x="2665830" y="1697925"/>
                <a:ext cx="1866280" cy="6065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10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 : </m:t>
                    </m:r>
                    <m:r>
                      <a:rPr lang="ko-KR" altLang="en-US" sz="1100" i="1">
                        <a:latin typeface="Cambria Math" panose="02040503050406030204" pitchFamily="18" charset="0"/>
                      </a:rPr>
                      <m:t>사</m:t>
                    </m:r>
                    <m:r>
                      <a:rPr lang="ko-KR" altLang="en-US" sz="1100" i="1" smtClean="0">
                        <a:latin typeface="Cambria Math" panose="02040503050406030204" pitchFamily="18" charset="0"/>
                      </a:rPr>
                      <m:t>방</m:t>
                    </m:r>
                    <m:r>
                      <a:rPr lang="ko-KR" altLang="en-US" sz="1100" i="1">
                        <a:latin typeface="Cambria Math" panose="02040503050406030204" pitchFamily="18" charset="0"/>
                      </a:rPr>
                      <m:t>넷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sz="1100" i="1">
                        <a:latin typeface="Cambria Math" panose="02040503050406030204" pitchFamily="18" charset="0"/>
                      </a:rPr>
                      <m:t>상</m:t>
                    </m:r>
                    <m:r>
                      <a:rPr lang="ko-KR" altLang="en-US" sz="1100" i="1" smtClean="0">
                        <a:latin typeface="Cambria Math" panose="02040503050406030204" pitchFamily="18" charset="0"/>
                      </a:rPr>
                      <m:t>품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sz="1100" i="1">
                        <a:latin typeface="Cambria Math" panose="02040503050406030204" pitchFamily="18" charset="0"/>
                      </a:rPr>
                      <m:t>판</m:t>
                    </m:r>
                  </m:oMath>
                </a14:m>
                <a:r>
                  <a:rPr lang="ko-KR" altLang="en-US" sz="1100" dirty="0"/>
                  <a:t>매가 </a:t>
                </a:r>
                <a:endParaRPr lang="en-US" altLang="ko-KR" sz="11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10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 : </m:t>
                    </m:r>
                    <m:r>
                      <a:rPr lang="ko-KR" altLang="en-US" sz="1100" i="1">
                        <a:latin typeface="Cambria Math" panose="02040503050406030204" pitchFamily="18" charset="0"/>
                      </a:rPr>
                      <m:t>마</m:t>
                    </m:r>
                  </m:oMath>
                </a14:m>
                <a:r>
                  <a:rPr lang="ko-KR" altLang="en-US" sz="1100" b="0" dirty="0"/>
                  <a:t>진율 </a:t>
                </a:r>
                <a:r>
                  <a:rPr lang="en-US" altLang="ko-KR" sz="1100" b="0" dirty="0"/>
                  <a:t>(%)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1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a:rPr lang="ko-KR" altLang="en-US" sz="1100" i="1">
                        <a:latin typeface="Cambria Math" panose="02040503050406030204" pitchFamily="18" charset="0"/>
                      </a:rPr>
                      <m:t>쇼</m:t>
                    </m:r>
                  </m:oMath>
                </a14:m>
                <a:r>
                  <a:rPr lang="ko-KR" altLang="en-US" sz="1100" dirty="0"/>
                  <a:t>핑몰 수수료율 </a:t>
                </a:r>
                <a:r>
                  <a:rPr lang="en-US" altLang="ko-KR" sz="1100" dirty="0"/>
                  <a:t>(%)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337420F-E8A7-E4D2-B5DB-92AE5AD90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5830" y="1697925"/>
                <a:ext cx="1866280" cy="606576"/>
              </a:xfrm>
              <a:prstGeom prst="rect">
                <a:avLst/>
              </a:prstGeom>
              <a:blipFill>
                <a:blip r:embed="rId4"/>
                <a:stretch>
                  <a:fillRect t="-1010" b="-70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A1E27D14-33CC-0875-8ED7-9E454CF84568}"/>
              </a:ext>
            </a:extLst>
          </p:cNvPr>
          <p:cNvSpPr txBox="1"/>
          <p:nvPr/>
        </p:nvSpPr>
        <p:spPr>
          <a:xfrm>
            <a:off x="457060" y="2887210"/>
            <a:ext cx="4891837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100" b="1" dirty="0"/>
              <a:t>2.</a:t>
            </a:r>
            <a:r>
              <a:rPr lang="ko-KR" altLang="en-US" sz="1100" b="1" dirty="0"/>
              <a:t> 기능 흐름도</a:t>
            </a:r>
            <a:endParaRPr lang="en-US" altLang="ko-KR" sz="1100" b="1" dirty="0"/>
          </a:p>
          <a:p>
            <a:pPr>
              <a:buNone/>
            </a:pPr>
            <a:r>
              <a:rPr lang="ko-KR" altLang="en-US" sz="1100" b="1" dirty="0" err="1"/>
              <a:t>사방넷</a:t>
            </a:r>
            <a:r>
              <a:rPr lang="ko-KR" altLang="en-US" sz="1100" b="1" dirty="0"/>
              <a:t> 미니 사용자가 </a:t>
            </a:r>
            <a:r>
              <a:rPr lang="ko-KR" altLang="en-US" sz="1100" b="1" dirty="0" err="1"/>
              <a:t>사방넷</a:t>
            </a:r>
            <a:r>
              <a:rPr lang="ko-KR" altLang="en-US" sz="1100" b="1" dirty="0"/>
              <a:t> 상품을 등록하기까지의 흐름</a:t>
            </a:r>
            <a:endParaRPr lang="en-US" altLang="ko-KR" sz="1100" b="1" dirty="0"/>
          </a:p>
          <a:p>
            <a:pPr>
              <a:buNone/>
            </a:pPr>
            <a:endParaRPr lang="en-US" altLang="ko-KR" sz="1100" b="1" dirty="0"/>
          </a:p>
          <a:p>
            <a:pPr>
              <a:buNone/>
            </a:pPr>
            <a:r>
              <a:rPr lang="en-US" altLang="ko-KR" sz="1100" b="1" dirty="0"/>
              <a:t>[</a:t>
            </a:r>
            <a:r>
              <a:rPr lang="ko-KR" altLang="en-US" sz="1100" b="1" dirty="0"/>
              <a:t>사용자</a:t>
            </a:r>
            <a:r>
              <a:rPr lang="en-US" altLang="ko-KR" sz="1100" b="1" dirty="0"/>
              <a:t>] </a:t>
            </a:r>
            <a:r>
              <a:rPr lang="ko-KR" altLang="en-US" sz="1100" b="1" dirty="0" err="1"/>
              <a:t>사방넷</a:t>
            </a:r>
            <a:r>
              <a:rPr lang="ko-KR" altLang="en-US" sz="1100" b="1" dirty="0"/>
              <a:t> 상품 등록</a:t>
            </a:r>
            <a:endParaRPr lang="en-US" altLang="ko-KR" sz="1100" b="1" dirty="0"/>
          </a:p>
          <a:p>
            <a:pPr>
              <a:buNone/>
            </a:pPr>
            <a:r>
              <a:rPr lang="en-US" altLang="ko-KR" sz="1100" b="1" dirty="0"/>
              <a:t>	</a:t>
            </a:r>
            <a:r>
              <a:rPr lang="ko-KR" altLang="en-US" sz="1100" b="1" dirty="0"/>
              <a:t>▼</a:t>
            </a:r>
            <a:endParaRPr lang="en-US" altLang="ko-KR" sz="1100" b="1" dirty="0"/>
          </a:p>
          <a:p>
            <a:pPr>
              <a:buNone/>
            </a:pPr>
            <a:r>
              <a:rPr lang="en-US" altLang="ko-KR" sz="1100" b="1" dirty="0"/>
              <a:t>[</a:t>
            </a:r>
            <a:r>
              <a:rPr lang="ko-KR" altLang="en-US" sz="1100" b="1" dirty="0"/>
              <a:t>사용자</a:t>
            </a:r>
            <a:r>
              <a:rPr lang="en-US" altLang="ko-KR" sz="1100" b="1" dirty="0"/>
              <a:t>] </a:t>
            </a:r>
            <a:r>
              <a:rPr lang="ko-KR" altLang="en-US" sz="1100" b="1" dirty="0"/>
              <a:t>쇼핑몰 부가정보에서 희망 마진율</a:t>
            </a:r>
            <a:r>
              <a:rPr lang="en-US" altLang="ko-KR" sz="1100" b="1" dirty="0"/>
              <a:t>, </a:t>
            </a:r>
            <a:r>
              <a:rPr lang="ko-KR" altLang="en-US" sz="1100" b="1" dirty="0"/>
              <a:t>쇼핑몰 수수료율 입력</a:t>
            </a:r>
            <a:endParaRPr lang="en-US" altLang="ko-KR" sz="1100" b="1" dirty="0"/>
          </a:p>
          <a:p>
            <a:r>
              <a:rPr lang="en-US" altLang="ko-KR" sz="1100" b="1" dirty="0"/>
              <a:t>	</a:t>
            </a:r>
            <a:r>
              <a:rPr lang="ko-KR" altLang="en-US" sz="1100" b="1" dirty="0"/>
              <a:t>▼</a:t>
            </a:r>
            <a:endParaRPr lang="en-US" altLang="ko-KR" sz="1100" b="1" dirty="0"/>
          </a:p>
          <a:p>
            <a:pPr>
              <a:buNone/>
            </a:pPr>
            <a:r>
              <a:rPr lang="en-US" altLang="ko-KR" sz="1100" b="1" dirty="0"/>
              <a:t>[</a:t>
            </a:r>
            <a:r>
              <a:rPr lang="ko-KR" altLang="en-US" sz="1100" b="1" dirty="0"/>
              <a:t>사용자</a:t>
            </a:r>
            <a:r>
              <a:rPr lang="en-US" altLang="ko-KR" sz="1100" b="1" dirty="0"/>
              <a:t>] </a:t>
            </a:r>
            <a:r>
              <a:rPr lang="ko-KR" altLang="en-US" sz="1100" b="1" dirty="0" err="1"/>
              <a:t>상품등록송신</a:t>
            </a:r>
            <a:r>
              <a:rPr lang="ko-KR" altLang="en-US" sz="1100" b="1" dirty="0"/>
              <a:t> </a:t>
            </a:r>
            <a:r>
              <a:rPr lang="en-US" altLang="ko-KR" sz="1100" b="1" dirty="0"/>
              <a:t>&gt; </a:t>
            </a:r>
            <a:r>
              <a:rPr lang="ko-KR" altLang="en-US" sz="1100" b="1" dirty="0"/>
              <a:t>해당 </a:t>
            </a:r>
            <a:r>
              <a:rPr lang="ko-KR" altLang="en-US" sz="1100" b="1" dirty="0" err="1"/>
              <a:t>쇼핑몰아이디</a:t>
            </a:r>
            <a:r>
              <a:rPr lang="en-US" altLang="ko-KR" sz="1100" b="1" dirty="0"/>
              <a:t>, </a:t>
            </a:r>
            <a:r>
              <a:rPr lang="ko-KR" altLang="en-US" sz="1100" b="1" dirty="0"/>
              <a:t>부가정보 선택 </a:t>
            </a:r>
            <a:r>
              <a:rPr lang="en-US" altLang="ko-KR" sz="1100" b="1" dirty="0"/>
              <a:t>&gt; </a:t>
            </a:r>
            <a:r>
              <a:rPr lang="ko-KR" altLang="en-US" sz="1100" b="1" dirty="0" err="1"/>
              <a:t>즉시송신</a:t>
            </a:r>
            <a:r>
              <a:rPr lang="ko-KR" altLang="en-US" sz="1100" b="1" dirty="0"/>
              <a:t> 클릭</a:t>
            </a:r>
            <a:endParaRPr lang="en-US" altLang="ko-KR" sz="1100" b="1" dirty="0"/>
          </a:p>
          <a:p>
            <a:r>
              <a:rPr lang="en-US" altLang="ko-KR" sz="1100" b="1" dirty="0"/>
              <a:t>	</a:t>
            </a:r>
            <a:r>
              <a:rPr lang="ko-KR" altLang="en-US" sz="1100" b="1" dirty="0"/>
              <a:t>▼</a:t>
            </a:r>
            <a:endParaRPr lang="en-US" altLang="ko-KR" sz="1100" b="1" dirty="0"/>
          </a:p>
          <a:p>
            <a:pPr>
              <a:buNone/>
            </a:pPr>
            <a:r>
              <a:rPr lang="en-US" altLang="ko-KR" sz="1100" b="1" dirty="0"/>
              <a:t>[</a:t>
            </a:r>
            <a:r>
              <a:rPr lang="ko-KR" altLang="en-US" sz="1100" b="1" dirty="0"/>
              <a:t>시스템</a:t>
            </a:r>
            <a:r>
              <a:rPr lang="en-US" altLang="ko-KR" sz="1100" b="1" dirty="0"/>
              <a:t>] </a:t>
            </a:r>
            <a:r>
              <a:rPr lang="ko-KR" altLang="en-US" sz="1100" b="1" dirty="0"/>
              <a:t>상기 가격 산출 정책 수식에 의해 마켓별 판매가 계산하여 상품전송</a:t>
            </a:r>
            <a:r>
              <a:rPr lang="en-US" altLang="ko-KR" sz="11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31142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1686E9-41D9-D622-1941-F13D05F56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2F2FF79-2949-0F45-7483-256827039E01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E8C6F54-A254-146F-B8B5-5C7A01320928}"/>
              </a:ext>
            </a:extLst>
          </p:cNvPr>
          <p:cNvSpPr/>
          <p:nvPr/>
        </p:nvSpPr>
        <p:spPr>
          <a:xfrm>
            <a:off x="41148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A2E4A"/>
                </a:solidFill>
              </a:rPr>
              <a:t>05  </a:t>
            </a:r>
            <a:r>
              <a:rPr lang="ko-KR" altLang="en-US" sz="2000" b="1" dirty="0">
                <a:solidFill>
                  <a:srgbClr val="1A2E4A"/>
                </a:solidFill>
              </a:rPr>
              <a:t>발생 리스크 및 대응 방안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BF3BB9E-B95A-A59B-E0B7-4519278E5C06}"/>
              </a:ext>
            </a:extLst>
          </p:cNvPr>
          <p:cNvSpPr/>
          <p:nvPr/>
        </p:nvSpPr>
        <p:spPr>
          <a:xfrm>
            <a:off x="411480" y="685800"/>
            <a:ext cx="8321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97A47F-BECD-BA85-471D-873C6DC7A8A7}"/>
              </a:ext>
            </a:extLst>
          </p:cNvPr>
          <p:cNvSpPr txBox="1"/>
          <p:nvPr/>
        </p:nvSpPr>
        <p:spPr>
          <a:xfrm>
            <a:off x="258336" y="812445"/>
            <a:ext cx="8382744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100" b="1" dirty="0"/>
              <a:t>🛑 </a:t>
            </a:r>
            <a:r>
              <a:rPr lang="ko-KR" altLang="ko-KR" sz="1100" b="1" dirty="0" err="1"/>
              <a:t>Risk</a:t>
            </a:r>
            <a:r>
              <a:rPr lang="ko-KR" altLang="ko-KR" sz="1100" b="1" dirty="0"/>
              <a:t> 1. 쇼핑몰별 수수료</a:t>
            </a:r>
            <a:r>
              <a:rPr lang="en-US" altLang="ko-KR" sz="1100" b="1" dirty="0"/>
              <a:t> </a:t>
            </a:r>
            <a:r>
              <a:rPr lang="ko-KR" altLang="en-US" sz="1100" b="1" dirty="0"/>
              <a:t>변경</a:t>
            </a:r>
            <a:r>
              <a:rPr lang="ko-KR" altLang="ko-KR" sz="1100" b="1" dirty="0"/>
              <a:t> 수시 변</a:t>
            </a:r>
            <a:r>
              <a:rPr lang="ko-KR" altLang="en-US" sz="1100" b="1" dirty="0"/>
              <a:t>경</a:t>
            </a:r>
            <a:endParaRPr lang="ko-KR" altLang="ko-KR" sz="11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ko-KR" sz="1100" b="1" dirty="0"/>
              <a:t>문제 상황</a:t>
            </a:r>
            <a:r>
              <a:rPr lang="en-US" altLang="ko-KR" sz="1100" b="1" dirty="0"/>
              <a:t> </a:t>
            </a:r>
            <a:r>
              <a:rPr lang="ko-KR" altLang="ko-KR" sz="1100" b="1" dirty="0"/>
              <a:t>:</a:t>
            </a:r>
            <a:r>
              <a:rPr lang="ko-KR" altLang="ko-KR" sz="1100" dirty="0"/>
              <a:t> </a:t>
            </a:r>
            <a:r>
              <a:rPr lang="ko-KR" altLang="en-US" sz="1100" dirty="0"/>
              <a:t>쇼핑몰 정책 정책에 따라 수수료율을 변경하는 경우</a:t>
            </a:r>
            <a:r>
              <a:rPr lang="en-US" altLang="ko-KR" sz="1100" dirty="0"/>
              <a:t>, </a:t>
            </a:r>
            <a:r>
              <a:rPr lang="ko-KR" altLang="en-US" sz="1100" dirty="0"/>
              <a:t>설정한 마진 정보와 상이하여 오차 발생 </a:t>
            </a:r>
            <a:endParaRPr lang="en-US" altLang="ko-KR" sz="1100" dirty="0"/>
          </a:p>
          <a:p>
            <a:pPr>
              <a:buFont typeface="Arial" panose="020B0604020202020204" pitchFamily="34" charset="0"/>
              <a:buChar char="•"/>
            </a:pPr>
            <a:endParaRPr lang="en-US" altLang="ko-KR" sz="11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ko-KR" sz="1100" b="1" dirty="0"/>
              <a:t>대응 방안</a:t>
            </a:r>
            <a:r>
              <a:rPr lang="en-US" altLang="ko-KR" sz="1100" b="1" dirty="0"/>
              <a:t> </a:t>
            </a:r>
            <a:r>
              <a:rPr lang="ko-KR" altLang="ko-KR" sz="1100" b="1" dirty="0"/>
              <a:t>: [</a:t>
            </a:r>
            <a:r>
              <a:rPr lang="ko-KR" altLang="en-US" sz="1100" b="1" dirty="0"/>
              <a:t>쇼핑몰 공지사항 지속 관리 </a:t>
            </a:r>
            <a:r>
              <a:rPr lang="en-US" altLang="ko-KR" sz="1100" b="1" dirty="0"/>
              <a:t>(+</a:t>
            </a:r>
            <a:r>
              <a:rPr lang="ko-KR" altLang="en-US" sz="1100" b="1" dirty="0"/>
              <a:t> </a:t>
            </a:r>
            <a:r>
              <a:rPr lang="ko-KR" altLang="ko-KR" sz="1100" b="1" dirty="0"/>
              <a:t>마켓별 수수료 자동 동기화</a:t>
            </a:r>
            <a:r>
              <a:rPr lang="en-US" altLang="ko-KR" sz="1100" b="1" dirty="0"/>
              <a:t>)</a:t>
            </a:r>
            <a:r>
              <a:rPr lang="ko-KR" altLang="ko-KR" sz="1100" b="1" dirty="0"/>
              <a:t> ]</a:t>
            </a:r>
            <a:endParaRPr lang="ko-KR" altLang="ko-KR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100" dirty="0"/>
              <a:t>사방넷에서 쇼핑몰 공지사항을 지속적 업데이트 제공 및 사용자가 쇼핑몰 공지사항을 인지하고 수기 업데이트 진행 필요</a:t>
            </a:r>
            <a:endParaRPr lang="en-US" altLang="ko-KR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100" dirty="0"/>
              <a:t>내부적으로 구조적 제공이 가능한 경우</a:t>
            </a:r>
            <a:r>
              <a:rPr lang="en-US" altLang="ko-KR" sz="1100" dirty="0"/>
              <a:t>, </a:t>
            </a:r>
            <a:r>
              <a:rPr lang="ko-KR" altLang="en-US" sz="1100" dirty="0" err="1"/>
              <a:t>사방넷</a:t>
            </a:r>
            <a:r>
              <a:rPr lang="ko-KR" altLang="en-US" sz="1100" dirty="0"/>
              <a:t> 미니 내부 </a:t>
            </a:r>
            <a:r>
              <a:rPr lang="en-US" altLang="ko-KR" sz="1100" dirty="0"/>
              <a:t>DB</a:t>
            </a:r>
            <a:r>
              <a:rPr lang="ko-KR" altLang="en-US" sz="1100" dirty="0"/>
              <a:t>에 수수료를 자동 업데이트 하는 스케줄러 구축</a:t>
            </a:r>
            <a:endParaRPr lang="en-US" altLang="ko-KR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ko-KR" altLang="ko-KR" sz="1100" dirty="0"/>
          </a:p>
          <a:p>
            <a:pPr>
              <a:buNone/>
            </a:pPr>
            <a:r>
              <a:rPr lang="ko-KR" altLang="ko-KR" sz="1100" b="1" dirty="0"/>
              <a:t>🛑 </a:t>
            </a:r>
            <a:r>
              <a:rPr lang="ko-KR" altLang="ko-KR" sz="1100" b="1" dirty="0" err="1"/>
              <a:t>Risk</a:t>
            </a:r>
            <a:r>
              <a:rPr lang="ko-KR" altLang="ko-KR" sz="1100" b="1" dirty="0"/>
              <a:t> 2. </a:t>
            </a:r>
            <a:r>
              <a:rPr lang="ko-KR" altLang="en-US" sz="1100" b="1" dirty="0"/>
              <a:t>쇼핑몰 카테고리로 등록 시</a:t>
            </a:r>
            <a:r>
              <a:rPr lang="en-US" altLang="ko-KR" sz="1100" b="1" dirty="0"/>
              <a:t>, </a:t>
            </a:r>
            <a:r>
              <a:rPr lang="ko-KR" altLang="en-US" sz="1100" b="1" dirty="0"/>
              <a:t>부가정보에 설정한 쇼핑몰 수수료율이 상이할 수 있음</a:t>
            </a:r>
            <a:endParaRPr lang="en-US" altLang="ko-KR" sz="1100" b="1" dirty="0"/>
          </a:p>
          <a:p>
            <a:pPr>
              <a:buNone/>
            </a:pPr>
            <a:r>
              <a:rPr lang="ko-KR" altLang="en-US" sz="1100" b="1" dirty="0"/>
              <a:t> </a:t>
            </a:r>
            <a:r>
              <a:rPr lang="ko-KR" altLang="ko-KR" sz="1100" b="1" dirty="0"/>
              <a:t>문제 상황</a:t>
            </a:r>
            <a:r>
              <a:rPr lang="en-US" altLang="ko-KR" sz="1100" b="1" dirty="0"/>
              <a:t> </a:t>
            </a:r>
            <a:r>
              <a:rPr lang="ko-KR" altLang="ko-KR" sz="1100" b="1" dirty="0"/>
              <a:t>:</a:t>
            </a:r>
            <a:r>
              <a:rPr lang="ko-KR" altLang="ko-KR" sz="1100" dirty="0"/>
              <a:t> </a:t>
            </a:r>
            <a:r>
              <a:rPr lang="ko-KR" altLang="en-US" sz="1100" dirty="0"/>
              <a:t>쇼핑몰 대부분 카테고리별로 쇼핑몰 수수료율을 책정함에 따라</a:t>
            </a:r>
            <a:r>
              <a:rPr lang="en-US" altLang="ko-KR" sz="1100" dirty="0"/>
              <a:t> </a:t>
            </a:r>
            <a:r>
              <a:rPr lang="ko-KR" altLang="en-US" sz="1100" dirty="0"/>
              <a:t>사방넷에서 쇼핑몰 카테고리로 등록하게 될 경우 설정한 마진정보와 상이하여 오차 발생</a:t>
            </a:r>
            <a:endParaRPr lang="en-US" altLang="ko-KR" sz="1100" dirty="0"/>
          </a:p>
          <a:p>
            <a:pPr>
              <a:buNone/>
            </a:pPr>
            <a:endParaRPr lang="en-US" altLang="ko-KR" sz="11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ko-KR" sz="1100" b="1" dirty="0"/>
              <a:t>대응 방안 : [</a:t>
            </a:r>
            <a:r>
              <a:rPr lang="ko-KR" altLang="en-US" sz="1100" b="1" dirty="0"/>
              <a:t>안내 공지 </a:t>
            </a:r>
            <a:r>
              <a:rPr lang="en-US" altLang="ko-KR" sz="1100" b="1" dirty="0"/>
              <a:t>&amp; </a:t>
            </a:r>
            <a:r>
              <a:rPr lang="ko-KR" altLang="en-US" sz="1100" b="1" dirty="0"/>
              <a:t>쇼핑몰 카테고리 설정 시 별도 마진 설정기능 제공</a:t>
            </a:r>
            <a:r>
              <a:rPr lang="ko-KR" altLang="ko-KR" sz="1100" b="1" dirty="0"/>
              <a:t>]</a:t>
            </a:r>
            <a:endParaRPr lang="ko-KR" altLang="ko-KR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100" dirty="0" err="1"/>
              <a:t>사방넷</a:t>
            </a:r>
            <a:r>
              <a:rPr lang="ko-KR" altLang="en-US" sz="1100" dirty="0"/>
              <a:t> 미니 사용자에게 </a:t>
            </a:r>
            <a:r>
              <a:rPr lang="ko-KR" altLang="en-US" sz="1100" dirty="0" err="1"/>
              <a:t>얼럿</a:t>
            </a:r>
            <a:r>
              <a:rPr lang="ko-KR" altLang="en-US" sz="1100" dirty="0"/>
              <a:t> 혹은 </a:t>
            </a:r>
            <a:r>
              <a:rPr lang="en-US" altLang="ko-KR" sz="1100" dirty="0"/>
              <a:t>FAQ </a:t>
            </a:r>
            <a:r>
              <a:rPr lang="ko-KR" altLang="en-US" sz="1100" dirty="0"/>
              <a:t>등으로 안내하여 인지하도록 하여 </a:t>
            </a:r>
            <a:r>
              <a:rPr lang="en-US" altLang="ko-KR" sz="1100" dirty="0"/>
              <a:t>VOC </a:t>
            </a:r>
            <a:r>
              <a:rPr lang="ko-KR" altLang="en-US" sz="1100" dirty="0"/>
              <a:t>감소</a:t>
            </a:r>
            <a:endParaRPr lang="en-US" altLang="ko-KR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100" dirty="0"/>
              <a:t>쇼핑몰 카테고리 설정 시</a:t>
            </a:r>
            <a:r>
              <a:rPr lang="en-US" altLang="ko-KR" sz="1100" dirty="0"/>
              <a:t>, </a:t>
            </a:r>
            <a:r>
              <a:rPr lang="ko-KR" altLang="en-US" sz="1100" dirty="0"/>
              <a:t>별도 마진 설정기능 제공</a:t>
            </a:r>
            <a:endParaRPr lang="ko-KR" altLang="ko-KR" sz="1100" dirty="0"/>
          </a:p>
        </p:txBody>
      </p:sp>
    </p:spTree>
    <p:extLst>
      <p:ext uri="{BB962C8B-B14F-4D97-AF65-F5344CB8AC3E}">
        <p14:creationId xmlns:p14="http://schemas.microsoft.com/office/powerpoint/2010/main" val="2633622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41FB01-B1E1-69A9-F66F-3CDD87BD3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1B1525D-E4AA-E199-D1C0-4D3F65CD5B3B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270FE4B-EAEB-188C-E1A6-C911DEF71322}"/>
              </a:ext>
            </a:extLst>
          </p:cNvPr>
          <p:cNvSpPr/>
          <p:nvPr/>
        </p:nvSpPr>
        <p:spPr>
          <a:xfrm>
            <a:off x="41148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A2E4A"/>
                </a:solidFill>
              </a:rPr>
              <a:t>06  </a:t>
            </a:r>
            <a:r>
              <a:rPr lang="ko-KR" altLang="en-US" sz="2000" b="1" dirty="0">
                <a:solidFill>
                  <a:srgbClr val="1A2E4A"/>
                </a:solidFill>
              </a:rPr>
              <a:t>기대 효과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FEEE3FA-4A0F-26E8-F196-72765D816E0F}"/>
              </a:ext>
            </a:extLst>
          </p:cNvPr>
          <p:cNvSpPr/>
          <p:nvPr/>
        </p:nvSpPr>
        <p:spPr>
          <a:xfrm>
            <a:off x="411480" y="685800"/>
            <a:ext cx="8321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A2A729-84F8-14D4-D4C1-E646355114AD}"/>
              </a:ext>
            </a:extLst>
          </p:cNvPr>
          <p:cNvSpPr txBox="1"/>
          <p:nvPr/>
        </p:nvSpPr>
        <p:spPr>
          <a:xfrm>
            <a:off x="258336" y="812445"/>
            <a:ext cx="8382744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1100" b="1" dirty="0"/>
              <a:t>판매가 설정 리소스 감소</a:t>
            </a:r>
            <a:endParaRPr lang="ko-KR" altLang="ko-KR" sz="1100" b="1" dirty="0"/>
          </a:p>
          <a:p>
            <a:r>
              <a:rPr lang="ko-KR" altLang="en-US" sz="1100" dirty="0"/>
              <a:t>상품 등록 시</a:t>
            </a:r>
            <a:r>
              <a:rPr lang="en-US" altLang="ko-KR" sz="1100" dirty="0"/>
              <a:t>, </a:t>
            </a:r>
            <a:r>
              <a:rPr lang="ko-KR" altLang="en-US" sz="1100" dirty="0"/>
              <a:t>마진 설정을 통해 판매가격 설정 시간 단축</a:t>
            </a:r>
            <a:endParaRPr lang="en-US" altLang="ko-KR" sz="1100" dirty="0"/>
          </a:p>
          <a:p>
            <a:r>
              <a:rPr lang="ko-KR" altLang="en-US" sz="1100" dirty="0"/>
              <a:t>수동 엑셀 작업 단계를 </a:t>
            </a:r>
            <a:r>
              <a:rPr lang="ko-KR" altLang="en-US" sz="1100" dirty="0" err="1"/>
              <a:t>스킵함으로써</a:t>
            </a:r>
            <a:r>
              <a:rPr lang="ko-KR" altLang="en-US" sz="1100" dirty="0"/>
              <a:t> 추가 리소스 감축 및 </a:t>
            </a:r>
            <a:r>
              <a:rPr lang="ko-KR" altLang="en-US" sz="1100" dirty="0" err="1"/>
              <a:t>역마진</a:t>
            </a:r>
            <a:r>
              <a:rPr lang="ko-KR" altLang="en-US" sz="1100" dirty="0"/>
              <a:t> 우려 감소 </a:t>
            </a:r>
            <a:endParaRPr lang="en-US" altLang="ko-KR" sz="1100" dirty="0"/>
          </a:p>
          <a:p>
            <a:endParaRPr lang="en-US" altLang="ko-KR" sz="1100" dirty="0"/>
          </a:p>
          <a:p>
            <a:r>
              <a:rPr lang="ko-KR" altLang="en-US" sz="1100" b="1" dirty="0"/>
              <a:t>초기 셀러의 심리적 장벽 해소</a:t>
            </a:r>
            <a:r>
              <a:rPr lang="ko-KR" altLang="ko-KR" sz="1100" dirty="0"/>
              <a:t> </a:t>
            </a:r>
            <a:endParaRPr lang="en-US" altLang="ko-KR" sz="1100" dirty="0"/>
          </a:p>
          <a:p>
            <a:r>
              <a:rPr lang="ko-KR" altLang="en-US" sz="1100" dirty="0"/>
              <a:t>편의 기능 제공으로 상품 대량등록 및 관리에 수월한 환경 조성</a:t>
            </a:r>
            <a:endParaRPr lang="en-US" altLang="ko-KR" sz="1100" dirty="0"/>
          </a:p>
          <a:p>
            <a:r>
              <a:rPr lang="ko-KR" altLang="en-US" sz="1100" dirty="0"/>
              <a:t>솔루션 사용에 대한 어려움 및 불편함 감소 및 </a:t>
            </a:r>
            <a:r>
              <a:rPr lang="ko-KR" altLang="en-US" sz="1100" dirty="0" err="1"/>
              <a:t>사방넷</a:t>
            </a:r>
            <a:r>
              <a:rPr lang="ko-KR" altLang="en-US" sz="1100" dirty="0"/>
              <a:t> 미니 서비스 신뢰도 향상 </a:t>
            </a:r>
            <a:endParaRPr lang="en-US" altLang="ko-KR" sz="1100" dirty="0"/>
          </a:p>
        </p:txBody>
      </p:sp>
    </p:spTree>
    <p:extLst>
      <p:ext uri="{BB962C8B-B14F-4D97-AF65-F5344CB8AC3E}">
        <p14:creationId xmlns:p14="http://schemas.microsoft.com/office/powerpoint/2010/main" val="1499968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5BCD87-9AEA-07CE-76D9-3F7297A07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B47AD9E-4DBA-1C83-9493-396E030C0842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3DFC5B5-DFFB-DB7F-F7A1-B15426E6CC90}"/>
              </a:ext>
            </a:extLst>
          </p:cNvPr>
          <p:cNvSpPr/>
          <p:nvPr/>
        </p:nvSpPr>
        <p:spPr>
          <a:xfrm>
            <a:off x="41148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A2E4A"/>
                </a:solidFill>
              </a:rPr>
              <a:t>07  </a:t>
            </a:r>
            <a:r>
              <a:rPr lang="ko-KR" altLang="en-US" sz="2000" b="1" dirty="0">
                <a:solidFill>
                  <a:srgbClr val="1A2E4A"/>
                </a:solidFill>
              </a:rPr>
              <a:t>예시 화면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A31CA14-C70D-2E5E-91F5-BD99EF3B8182}"/>
              </a:ext>
            </a:extLst>
          </p:cNvPr>
          <p:cNvSpPr/>
          <p:nvPr/>
        </p:nvSpPr>
        <p:spPr>
          <a:xfrm>
            <a:off x="411480" y="685800"/>
            <a:ext cx="8321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12084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E16111-A96F-A56D-66DA-D93ED7508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7E4CCA4-433A-FBAF-022A-DDEEA1251044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11F6514-AE97-C6A6-CC47-870535EC2A88}"/>
              </a:ext>
            </a:extLst>
          </p:cNvPr>
          <p:cNvSpPr/>
          <p:nvPr/>
        </p:nvSpPr>
        <p:spPr>
          <a:xfrm>
            <a:off x="41148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A2E4A"/>
                </a:solidFill>
              </a:rPr>
              <a:t>08  </a:t>
            </a:r>
            <a:r>
              <a:rPr lang="ko-KR" altLang="en-US" sz="2000" b="1" dirty="0">
                <a:solidFill>
                  <a:srgbClr val="1A2E4A"/>
                </a:solidFill>
              </a:rPr>
              <a:t>추가 질문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00AABCE-97C3-3B84-12AD-680C6E0E4EC1}"/>
              </a:ext>
            </a:extLst>
          </p:cNvPr>
          <p:cNvSpPr/>
          <p:nvPr/>
        </p:nvSpPr>
        <p:spPr>
          <a:xfrm>
            <a:off x="411480" y="685800"/>
            <a:ext cx="8321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86BFA5-3195-3DD8-13C7-90C27B6B8666}"/>
              </a:ext>
            </a:extLst>
          </p:cNvPr>
          <p:cNvSpPr txBox="1"/>
          <p:nvPr/>
        </p:nvSpPr>
        <p:spPr>
          <a:xfrm>
            <a:off x="411480" y="886522"/>
            <a:ext cx="7873122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b="1" dirty="0"/>
              <a:t>1. 과제를 어떤 방식으로 접근하셨나요?</a:t>
            </a:r>
            <a:endParaRPr lang="en-US" altLang="ko-KR" sz="1100" b="1" dirty="0"/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ko-KR" altLang="en-US" sz="1100" dirty="0"/>
              <a:t>초기 셀러들의 높은 이탈율이 통합관리솔루션의 어려움 및 불편함에서 출발하였습니다</a:t>
            </a:r>
            <a:r>
              <a:rPr lang="en-US" altLang="ko-KR" sz="1100" dirty="0"/>
              <a:t>.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ko-KR" altLang="en-US" sz="1100" dirty="0"/>
              <a:t>실제 저 자신이 초기 셀러라고 생각하여</a:t>
            </a:r>
            <a:r>
              <a:rPr lang="en-US" altLang="ko-KR" sz="1100" dirty="0"/>
              <a:t> </a:t>
            </a:r>
            <a:r>
              <a:rPr lang="ko-KR" altLang="en-US" sz="1100" dirty="0"/>
              <a:t>직접 상품등록</a:t>
            </a:r>
            <a:r>
              <a:rPr lang="en-US" altLang="ko-KR" sz="1100" dirty="0"/>
              <a:t>~</a:t>
            </a:r>
            <a:r>
              <a:rPr lang="ko-KR" altLang="en-US" sz="1100" dirty="0"/>
              <a:t>주문수집까지 테스트를 진행해보았고</a:t>
            </a:r>
            <a:r>
              <a:rPr lang="en-US" altLang="ko-KR" sz="1100" dirty="0"/>
              <a:t>, </a:t>
            </a:r>
            <a:r>
              <a:rPr lang="ko-KR" altLang="en-US" sz="1100" dirty="0"/>
              <a:t>이전 회사의 </a:t>
            </a:r>
            <a:r>
              <a:rPr lang="en-US" altLang="ko-KR" sz="1100" dirty="0"/>
              <a:t>VOC</a:t>
            </a:r>
            <a:r>
              <a:rPr lang="ko-KR" altLang="en-US" sz="1100" dirty="0"/>
              <a:t>의 인사이트를 바탕으로 자동 마진 계산 기능을 생각하게 되었습니다</a:t>
            </a:r>
            <a:r>
              <a:rPr lang="en-US" altLang="ko-KR" sz="1100" dirty="0"/>
              <a:t>.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endParaRPr lang="ko-KR" altLang="en-US" sz="1100" dirty="0"/>
          </a:p>
          <a:p>
            <a:r>
              <a:rPr lang="ko-KR" altLang="en-US" sz="1100" b="1" dirty="0"/>
              <a:t>2. 협업 시 어떤 커뮤니케이션 방식과 우선순위 설정을 하시겠습니까?</a:t>
            </a:r>
          </a:p>
          <a:p>
            <a:r>
              <a:rPr lang="en-US" altLang="ko-KR" sz="1100" dirty="0"/>
              <a:t>=&gt; </a:t>
            </a:r>
            <a:r>
              <a:rPr lang="ko-KR" altLang="en-US" sz="1100" dirty="0"/>
              <a:t>내부 자체에서 자동으로 계산해주는 데이터이므로 </a:t>
            </a:r>
            <a:r>
              <a:rPr lang="en-US" altLang="ko-KR" sz="1100" dirty="0"/>
              <a:t>‘1</a:t>
            </a:r>
            <a:r>
              <a:rPr lang="ko-KR" altLang="en-US" sz="1100" dirty="0"/>
              <a:t>순위</a:t>
            </a:r>
            <a:r>
              <a:rPr lang="en-US" altLang="ko-KR" sz="1100" dirty="0"/>
              <a:t>: </a:t>
            </a:r>
            <a:r>
              <a:rPr lang="ko-KR" altLang="en-US" sz="1100" dirty="0"/>
              <a:t>상품등록 시</a:t>
            </a:r>
            <a:r>
              <a:rPr lang="en-US" altLang="ko-KR" sz="1100" dirty="0"/>
              <a:t>, </a:t>
            </a:r>
            <a:r>
              <a:rPr lang="ko-KR" altLang="en-US" sz="1100" dirty="0"/>
              <a:t>내부 자동 계산 구현</a:t>
            </a:r>
            <a:r>
              <a:rPr lang="en-US" altLang="ko-KR" sz="1100" dirty="0"/>
              <a:t>’, ‘2</a:t>
            </a:r>
            <a:r>
              <a:rPr lang="ko-KR" altLang="en-US" sz="1100" dirty="0"/>
              <a:t>순위</a:t>
            </a:r>
            <a:r>
              <a:rPr lang="en-US" altLang="ko-KR" sz="1100" dirty="0"/>
              <a:t>: </a:t>
            </a:r>
            <a:r>
              <a:rPr lang="ko-KR" altLang="en-US" sz="1100" dirty="0"/>
              <a:t>추가 편의를 위해 수수료 </a:t>
            </a:r>
            <a:r>
              <a:rPr lang="en-US" altLang="ko-KR" sz="1100" dirty="0"/>
              <a:t>DB </a:t>
            </a:r>
            <a:r>
              <a:rPr lang="ko-KR" altLang="en-US" sz="1100" dirty="0"/>
              <a:t>데이터 구현</a:t>
            </a:r>
            <a:r>
              <a:rPr lang="en-US" altLang="ko-KR" sz="1100" dirty="0"/>
              <a:t>’ </a:t>
            </a:r>
            <a:r>
              <a:rPr lang="ko-KR" altLang="en-US" sz="1100" dirty="0"/>
              <a:t>순으로 우선순위를 잡고 개발팀에 수식 명세를 명확히 제공하겠습니다</a:t>
            </a:r>
            <a:r>
              <a:rPr lang="en-US" altLang="ko-KR" sz="1100" dirty="0"/>
              <a:t>. </a:t>
            </a:r>
            <a:r>
              <a:rPr lang="ko-KR" altLang="en-US" sz="1100" dirty="0"/>
              <a:t>또한</a:t>
            </a:r>
            <a:r>
              <a:rPr lang="en-US" altLang="ko-KR" sz="1100" dirty="0"/>
              <a:t>, UI </a:t>
            </a:r>
            <a:r>
              <a:rPr lang="ko-KR" altLang="en-US" sz="1100" dirty="0"/>
              <a:t>구현을 위해 유관 부서와 일정 및 구현 가능여부를 협업하도록 하겠습니다</a:t>
            </a:r>
            <a:r>
              <a:rPr lang="en-US" altLang="ko-KR" sz="1100" dirty="0"/>
              <a:t>. </a:t>
            </a:r>
          </a:p>
          <a:p>
            <a:endParaRPr lang="en-US" altLang="ko-KR" sz="1100" dirty="0"/>
          </a:p>
          <a:p>
            <a:r>
              <a:rPr lang="ko-KR" altLang="en-US" sz="1100" b="1" dirty="0"/>
              <a:t>3. (선택) 추가로 개선이 필요하다고 느낀 영역이 있다면 자유롭게 제안해 주세요.</a:t>
            </a:r>
            <a:endParaRPr lang="en-US" altLang="ko-KR" sz="1100" b="1" dirty="0"/>
          </a:p>
          <a:p>
            <a:r>
              <a:rPr lang="en-US" altLang="ko-KR" sz="1100" dirty="0"/>
              <a:t> </a:t>
            </a:r>
          </a:p>
          <a:p>
            <a:r>
              <a:rPr lang="en-US" altLang="ko-KR" sz="1100" dirty="0"/>
              <a:t>1)</a:t>
            </a:r>
            <a:r>
              <a:rPr lang="ko-KR" altLang="en-US" sz="1100" dirty="0" err="1"/>
              <a:t>판매자관리코드</a:t>
            </a:r>
            <a:r>
              <a:rPr lang="ko-KR" altLang="en-US" sz="1100" dirty="0"/>
              <a:t> 없는 점 </a:t>
            </a:r>
            <a:r>
              <a:rPr lang="en-US" altLang="ko-KR" sz="1100" dirty="0"/>
              <a:t>: </a:t>
            </a:r>
            <a:r>
              <a:rPr lang="ko-KR" altLang="en-US" sz="1100" dirty="0"/>
              <a:t>사용자 대부분은 </a:t>
            </a:r>
            <a:r>
              <a:rPr lang="ko-KR" altLang="en-US" sz="1100" dirty="0" err="1"/>
              <a:t>판매자관리코드를</a:t>
            </a:r>
            <a:r>
              <a:rPr lang="ko-KR" altLang="en-US" sz="1100" dirty="0"/>
              <a:t> 기준으로 </a:t>
            </a:r>
            <a:r>
              <a:rPr lang="ko-KR" altLang="en-US" sz="1100" dirty="0" err="1"/>
              <a:t>사용할텐데</a:t>
            </a:r>
            <a:r>
              <a:rPr lang="en-US" altLang="ko-KR" sz="1100" dirty="0"/>
              <a:t>, </a:t>
            </a:r>
            <a:r>
              <a:rPr lang="ko-KR" altLang="en-US" sz="1100" dirty="0"/>
              <a:t>매칭된 항목이 없었음</a:t>
            </a:r>
          </a:p>
          <a:p>
            <a:r>
              <a:rPr lang="en-US" altLang="ko-KR" sz="1100" dirty="0"/>
              <a:t>=&gt;</a:t>
            </a:r>
            <a:r>
              <a:rPr lang="ko-KR" altLang="en-US" sz="1100" dirty="0"/>
              <a:t>의견 </a:t>
            </a:r>
            <a:r>
              <a:rPr lang="en-US" altLang="ko-KR" sz="1100" dirty="0"/>
              <a:t>: </a:t>
            </a:r>
            <a:r>
              <a:rPr lang="ko-KR" altLang="en-US" sz="1100" dirty="0"/>
              <a:t>쇼핑몰에서 사용하는 </a:t>
            </a:r>
            <a:r>
              <a:rPr lang="ko-KR" altLang="en-US" sz="1100" dirty="0" err="1"/>
              <a:t>판매자관리코드를</a:t>
            </a:r>
            <a:r>
              <a:rPr lang="ko-KR" altLang="en-US" sz="1100" dirty="0"/>
              <a:t> 매칭해줄 항목 추가</a:t>
            </a:r>
          </a:p>
          <a:p>
            <a:endParaRPr lang="ko-KR" altLang="en-US" sz="1100" dirty="0"/>
          </a:p>
          <a:p>
            <a:r>
              <a:rPr lang="en-US" altLang="ko-KR" sz="1100" dirty="0"/>
              <a:t>2)</a:t>
            </a:r>
            <a:r>
              <a:rPr lang="ko-KR" altLang="en-US" sz="1100" dirty="0" err="1"/>
              <a:t>사방넷</a:t>
            </a:r>
            <a:r>
              <a:rPr lang="ko-KR" altLang="en-US" sz="1100" dirty="0"/>
              <a:t> 상품이 품절 상태일 때</a:t>
            </a:r>
            <a:r>
              <a:rPr lang="en-US" altLang="ko-KR" sz="1100" dirty="0"/>
              <a:t>, </a:t>
            </a:r>
            <a:r>
              <a:rPr lang="ko-KR" altLang="en-US" sz="1100" dirty="0" err="1"/>
              <a:t>매핑된</a:t>
            </a:r>
            <a:r>
              <a:rPr lang="ko-KR" altLang="en-US" sz="1100" dirty="0"/>
              <a:t> 주문이 재고가 있는지 없는지 확인 어려움</a:t>
            </a:r>
          </a:p>
          <a:p>
            <a:r>
              <a:rPr lang="en-US" altLang="ko-KR" sz="1100" dirty="0"/>
              <a:t>=&gt; </a:t>
            </a:r>
            <a:r>
              <a:rPr lang="ko-KR" altLang="en-US" sz="1100" dirty="0"/>
              <a:t>의견 </a:t>
            </a:r>
            <a:r>
              <a:rPr lang="en-US" altLang="ko-KR" sz="1100" dirty="0"/>
              <a:t>: </a:t>
            </a:r>
            <a:r>
              <a:rPr lang="ko-KR" altLang="en-US" sz="1100" dirty="0" err="1"/>
              <a:t>단품매핑까지</a:t>
            </a:r>
            <a:r>
              <a:rPr lang="ko-KR" altLang="en-US" sz="1100" dirty="0"/>
              <a:t> 확정된 상태라면 </a:t>
            </a:r>
            <a:r>
              <a:rPr lang="en-US" altLang="ko-KR" sz="1100" dirty="0"/>
              <a:t>[</a:t>
            </a:r>
            <a:r>
              <a:rPr lang="ko-KR" altLang="en-US" sz="1100" dirty="0"/>
              <a:t>품절</a:t>
            </a:r>
            <a:r>
              <a:rPr lang="en-US" altLang="ko-KR" sz="1100" dirty="0"/>
              <a:t>] </a:t>
            </a:r>
            <a:r>
              <a:rPr lang="ko-KR" altLang="en-US" sz="1100" dirty="0"/>
              <a:t>이라는 해시태그 표기하는 방식 제공</a:t>
            </a:r>
            <a:endParaRPr lang="en-US" altLang="ko-KR" sz="1100" dirty="0"/>
          </a:p>
          <a:p>
            <a:endParaRPr lang="ko-KR" altLang="en-US" sz="1100" dirty="0"/>
          </a:p>
          <a:p>
            <a:r>
              <a:rPr lang="en-US" altLang="ko-KR" sz="1100" dirty="0"/>
              <a:t>3)</a:t>
            </a:r>
            <a:r>
              <a:rPr lang="ko-KR" altLang="en-US" sz="1100" dirty="0"/>
              <a:t>검색 영역이 차지하는 부분이 넓어 아코디언 형식으로 축소하는 방향 개선 필요</a:t>
            </a:r>
            <a:endParaRPr lang="en-US" altLang="ko-KR" sz="1100" dirty="0"/>
          </a:p>
          <a:p>
            <a:r>
              <a:rPr lang="en-US" altLang="ko-KR" sz="1100" dirty="0"/>
              <a:t>=&gt; </a:t>
            </a:r>
            <a:r>
              <a:rPr lang="ko-KR" altLang="en-US" sz="1100" dirty="0"/>
              <a:t>의견 </a:t>
            </a:r>
            <a:r>
              <a:rPr lang="en-US" altLang="ko-KR" sz="1100" dirty="0"/>
              <a:t>: </a:t>
            </a:r>
            <a:r>
              <a:rPr lang="ko-KR" altLang="en-US" sz="1100" dirty="0"/>
              <a:t>상품 수</a:t>
            </a:r>
            <a:r>
              <a:rPr lang="en-US" altLang="ko-KR" sz="1100" dirty="0"/>
              <a:t>, </a:t>
            </a:r>
            <a:r>
              <a:rPr lang="ko-KR" altLang="en-US" sz="1100" dirty="0"/>
              <a:t>주문 수가 많은 경우 검색 영역으로 인해 한눈에 보기 어려워 아코디언 </a:t>
            </a:r>
            <a:r>
              <a:rPr lang="en-US" altLang="ko-KR" sz="1100" dirty="0"/>
              <a:t>UI </a:t>
            </a:r>
            <a:r>
              <a:rPr lang="ko-KR" altLang="en-US" sz="1100" dirty="0"/>
              <a:t>등의 화면 개선 제공</a:t>
            </a:r>
          </a:p>
        </p:txBody>
      </p:sp>
    </p:spTree>
    <p:extLst>
      <p:ext uri="{BB962C8B-B14F-4D97-AF65-F5344CB8AC3E}">
        <p14:creationId xmlns:p14="http://schemas.microsoft.com/office/powerpoint/2010/main" val="35453972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315200" y="3657600"/>
            <a:ext cx="2011680" cy="2011680"/>
          </a:xfrm>
          <a:prstGeom prst="ellipse">
            <a:avLst/>
          </a:prstGeom>
          <a:solidFill>
            <a:srgbClr val="00A6A6">
              <a:alpha val="25000"/>
            </a:srgbClr>
          </a:solidFill>
          <a:ln w="12700">
            <a:solidFill>
              <a:srgbClr val="00A6A6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800" dirty="0" err="1">
                <a:solidFill>
                  <a:srgbClr val="FFFFFF"/>
                </a:solidFill>
              </a:rPr>
              <a:t>사방넷</a:t>
            </a:r>
            <a:r>
              <a:rPr lang="ko-KR" altLang="en-US" sz="1800" dirty="0">
                <a:solidFill>
                  <a:srgbClr val="FFFFFF"/>
                </a:solidFill>
              </a:rPr>
              <a:t> 미니 상품 판매가 마진 설정 프로세스</a:t>
            </a:r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45720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57200" y="4114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568</TotalTime>
  <Words>1755</Words>
  <Application>Microsoft Office PowerPoint</Application>
  <PresentationFormat>화면 슬라이드 쇼(16:9)</PresentationFormat>
  <Paragraphs>144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 Math</vt:lpstr>
      <vt:lpstr>Symbol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사방넷 미니 서비스 개선 제안</dc:title>
  <dc:subject>PptxGenJS Presentation</dc:subject>
  <dc:creator>PptxGenJS</dc:creator>
  <cp:lastModifiedBy>박병규</cp:lastModifiedBy>
  <cp:revision>68</cp:revision>
  <dcterms:created xsi:type="dcterms:W3CDTF">2026-06-05T03:30:01Z</dcterms:created>
  <dcterms:modified xsi:type="dcterms:W3CDTF">2026-06-08T06:18:28Z</dcterms:modified>
</cp:coreProperties>
</file>