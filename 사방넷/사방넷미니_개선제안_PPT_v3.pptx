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7A0FF"/>
    <a:srgbClr val="EFF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87384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0" y="0"/>
            <a:ext cx="3291840" cy="5143500"/>
          </a:xfrm>
          <a:prstGeom prst="rect">
            <a:avLst/>
          </a:prstGeom>
          <a:solidFill>
            <a:srgbClr val="162847"/>
          </a:solidFill>
          <a:ln w="12700">
            <a:solidFill>
              <a:srgbClr val="1628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6583680" y="-1005840"/>
            <a:ext cx="2926080" cy="2926080"/>
          </a:xfrm>
          <a:prstGeom prst="ellipse">
            <a:avLst/>
          </a:prstGeom>
          <a:solidFill>
            <a:srgbClr val="57A0FF">
              <a:alpha val="15000"/>
            </a:srgbClr>
          </a:solidFill>
          <a:ln w="12700">
            <a:solidFill>
              <a:srgbClr val="57A0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132320" y="-457200"/>
            <a:ext cx="1645920" cy="1645920"/>
          </a:xfrm>
          <a:prstGeom prst="ellipse">
            <a:avLst/>
          </a:prstGeom>
          <a:solidFill>
            <a:srgbClr val="57A0FF">
              <a:alpha val="30000"/>
            </a:srgbClr>
          </a:solidFill>
          <a:ln w="12700">
            <a:solidFill>
              <a:srgbClr val="57A0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863840" y="4023360"/>
            <a:ext cx="640080" cy="640080"/>
          </a:xfrm>
          <a:prstGeom prst="ellipse">
            <a:avLst/>
          </a:prstGeom>
          <a:solidFill>
            <a:srgbClr val="57A0FF"/>
          </a:solidFill>
          <a:ln w="12700">
            <a:solidFill>
              <a:srgbClr val="57A0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8229600" y="3749040"/>
            <a:ext cx="320040" cy="320040"/>
          </a:xfrm>
          <a:prstGeom prst="ellipse">
            <a:avLst/>
          </a:prstGeom>
          <a:solidFill>
            <a:srgbClr val="A8C8FF"/>
          </a:solidFill>
          <a:ln w="12700">
            <a:solidFill>
              <a:srgbClr val="A8C8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02920" y="822960"/>
            <a:ext cx="1463040" cy="292608"/>
          </a:xfrm>
          <a:prstGeom prst="rect">
            <a:avLst/>
          </a:prstGeom>
          <a:solidFill>
            <a:srgbClr val="57A0FF">
              <a:alpha val="20000"/>
            </a:srgbClr>
          </a:solidFill>
          <a:ln w="12700">
            <a:solidFill>
              <a:srgbClr val="57A0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02920" y="8229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7A0FF"/>
                </a:solidFill>
              </a:rPr>
              <a:t>서비스 개선 제안서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1261872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사방넷 미니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502920" y="192024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A8C8FF"/>
                </a:solidFill>
              </a:rPr>
              <a:t>상품 </a:t>
            </a:r>
            <a:r>
              <a:rPr lang="en-US" sz="2800" b="1" dirty="0" err="1">
                <a:solidFill>
                  <a:srgbClr val="A8C8FF"/>
                </a:solidFill>
              </a:rPr>
              <a:t>판매가</a:t>
            </a:r>
            <a:r>
              <a:rPr lang="en-US" sz="2800" b="1" dirty="0">
                <a:solidFill>
                  <a:srgbClr val="A8C8FF"/>
                </a:solidFill>
              </a:rPr>
              <a:t> </a:t>
            </a:r>
            <a:r>
              <a:rPr lang="en-US" sz="2800" b="1" dirty="0" err="1">
                <a:solidFill>
                  <a:srgbClr val="A8C8FF"/>
                </a:solidFill>
              </a:rPr>
              <a:t>마진</a:t>
            </a:r>
            <a:r>
              <a:rPr lang="en-US" sz="2800" dirty="0"/>
              <a:t> </a:t>
            </a:r>
            <a:r>
              <a:rPr lang="en-US" sz="2800" b="1" dirty="0" err="1">
                <a:solidFill>
                  <a:srgbClr val="A8C8FF"/>
                </a:solidFill>
              </a:rPr>
              <a:t>설정</a:t>
            </a:r>
            <a:r>
              <a:rPr lang="en-US" sz="2800" b="1" dirty="0">
                <a:solidFill>
                  <a:srgbClr val="A8C8FF"/>
                </a:solidFill>
              </a:rPr>
              <a:t> 프로세스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502920" y="3310128"/>
            <a:ext cx="4114800" cy="18288"/>
          </a:xfrm>
          <a:prstGeom prst="rect">
            <a:avLst/>
          </a:prstGeom>
          <a:solidFill>
            <a:srgbClr val="57A0FF">
              <a:alpha val="50000"/>
            </a:srgbClr>
          </a:solidFill>
          <a:ln w="12700">
            <a:solidFill>
              <a:srgbClr val="57A0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02920" y="340156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C8FF"/>
                </a:solidFill>
                <a:latin typeface="+mn-ea"/>
              </a:rPr>
              <a:t>초기 셀러의 병목을 줄이는 경험 설계</a:t>
            </a:r>
            <a:endParaRPr lang="en-US" sz="1300" dirty="0">
              <a:latin typeface="+mn-ea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02920" y="46634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1안</a:t>
            </a:r>
            <a:endParaRPr lang="en-US" sz="1000" dirty="0"/>
          </a:p>
        </p:txBody>
      </p:sp>
      <p:sp>
        <p:nvSpPr>
          <p:cNvPr id="16" name="Shape 1">
            <a:extLst>
              <a:ext uri="{FF2B5EF4-FFF2-40B4-BE49-F238E27FC236}">
                <a16:creationId xmlns:a16="http://schemas.microsoft.com/office/drawing/2014/main" id="{5FF18EDF-4049-A34B-D29E-25C86867BA96}"/>
              </a:ext>
            </a:extLst>
          </p:cNvPr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57A0FF"/>
          </a:solidFill>
          <a:ln w="12700">
            <a:solidFill>
              <a:srgbClr val="57A0FF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0" cy="51435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57A0FF"/>
          </a:solidFill>
          <a:ln w="12700">
            <a:solidFill>
              <a:srgbClr val="57A0FF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Text 2"/>
          <p:cNvSpPr/>
          <p:nvPr/>
        </p:nvSpPr>
        <p:spPr>
          <a:xfrm>
            <a:off x="182880" y="4572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목차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82880" y="9875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A8C8FF"/>
                </a:solidFill>
              </a:rPr>
              <a:t>CONTENTS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3474720"/>
            <a:ext cx="1645920" cy="1645920"/>
          </a:xfrm>
          <a:prstGeom prst="ellipse">
            <a:avLst/>
          </a:prstGeom>
          <a:solidFill>
            <a:srgbClr val="57A0FF">
              <a:alpha val="12000"/>
            </a:srgbClr>
          </a:solidFill>
          <a:ln w="12700">
            <a:solidFill>
              <a:srgbClr val="57A0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097280" y="4114800"/>
            <a:ext cx="914400" cy="914400"/>
          </a:xfrm>
          <a:prstGeom prst="ellipse">
            <a:avLst/>
          </a:prstGeom>
          <a:solidFill>
            <a:srgbClr val="57A0FF">
              <a:alpha val="22000"/>
            </a:srgbClr>
          </a:solidFill>
          <a:ln w="12700">
            <a:solidFill>
              <a:srgbClr val="57A0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2743200" y="384048"/>
            <a:ext cx="6126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2743200" y="384048"/>
            <a:ext cx="54864" cy="457200"/>
          </a:xfrm>
          <a:prstGeom prst="rect">
            <a:avLst/>
          </a:prstGeom>
          <a:solidFill>
            <a:srgbClr val="57A0FF"/>
          </a:solidFill>
          <a:ln w="12700">
            <a:solidFill>
              <a:srgbClr val="57A0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834640" y="38404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7A0FF"/>
                </a:solidFill>
              </a:rPr>
              <a:t>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29000" y="384048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3C"/>
                </a:solidFill>
              </a:rPr>
              <a:t>제안 배경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0" y="950976"/>
            <a:ext cx="6126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2743200" y="950976"/>
            <a:ext cx="54864" cy="457200"/>
          </a:xfrm>
          <a:prstGeom prst="rect">
            <a:avLst/>
          </a:prstGeom>
          <a:solidFill>
            <a:srgbClr val="57A0FF"/>
          </a:solidFill>
          <a:ln w="12700">
            <a:solidFill>
              <a:srgbClr val="57A0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2834640" y="95097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7A0FF"/>
                </a:solidFill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29000" y="950976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3C"/>
                </a:solidFill>
              </a:rPr>
              <a:t>UX 문제 정의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0" y="1517904"/>
            <a:ext cx="6126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2743200" y="1517904"/>
            <a:ext cx="54864" cy="457200"/>
          </a:xfrm>
          <a:prstGeom prst="rect">
            <a:avLst/>
          </a:prstGeom>
          <a:solidFill>
            <a:srgbClr val="57A0FF"/>
          </a:solidFill>
          <a:ln w="12700">
            <a:solidFill>
              <a:srgbClr val="57A0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2834640" y="151790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7A0FF"/>
                </a:solidFill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429000" y="1517904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3C"/>
                </a:solidFill>
              </a:rPr>
              <a:t>개선 목적 및 방향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0" y="2084832"/>
            <a:ext cx="6126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2743200" y="2084832"/>
            <a:ext cx="54864" cy="457200"/>
          </a:xfrm>
          <a:prstGeom prst="rect">
            <a:avLst/>
          </a:prstGeom>
          <a:solidFill>
            <a:srgbClr val="57A0FF"/>
          </a:solidFill>
          <a:ln w="12700">
            <a:solidFill>
              <a:srgbClr val="57A0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2834640" y="208483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7A0FF"/>
                </a:solidFill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29000" y="2084832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3C"/>
                </a:solidFill>
              </a:rPr>
              <a:t>정책 수립 및 기능 흐름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743200" y="2651760"/>
            <a:ext cx="6126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2743200" y="2651760"/>
            <a:ext cx="54864" cy="457200"/>
          </a:xfrm>
          <a:prstGeom prst="rect">
            <a:avLst/>
          </a:prstGeom>
          <a:solidFill>
            <a:srgbClr val="57A0FF"/>
          </a:solidFill>
          <a:ln w="12700">
            <a:solidFill>
              <a:srgbClr val="57A0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2834640" y="26517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7A0FF"/>
                </a:solidFill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429000" y="265176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3C"/>
                </a:solidFill>
              </a:rPr>
              <a:t>발생 리스크 및 대응 방안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743200" y="3218688"/>
            <a:ext cx="6126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2743200" y="3218688"/>
            <a:ext cx="54864" cy="457200"/>
          </a:xfrm>
          <a:prstGeom prst="rect">
            <a:avLst/>
          </a:prstGeom>
          <a:solidFill>
            <a:srgbClr val="57A0FF"/>
          </a:solidFill>
          <a:ln w="12700">
            <a:solidFill>
              <a:srgbClr val="57A0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2834640" y="321868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7A0FF"/>
                </a:solidFill>
              </a:rPr>
              <a:t>06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429000" y="3218688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3C"/>
                </a:solidFill>
              </a:rPr>
              <a:t>기대 효과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2743200" y="3785616"/>
            <a:ext cx="6126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2743200" y="3785616"/>
            <a:ext cx="54864" cy="457200"/>
          </a:xfrm>
          <a:prstGeom prst="rect">
            <a:avLst/>
          </a:prstGeom>
          <a:solidFill>
            <a:srgbClr val="57A0FF"/>
          </a:solidFill>
          <a:ln w="12700">
            <a:solidFill>
              <a:srgbClr val="57A0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2834640" y="378561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7A0FF"/>
                </a:solidFill>
              </a:rPr>
              <a:t>07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429000" y="3785616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3C"/>
                </a:solidFill>
              </a:rPr>
              <a:t>예시 화면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2743200" y="4352544"/>
            <a:ext cx="6126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2743200" y="4352544"/>
            <a:ext cx="54864" cy="457200"/>
          </a:xfrm>
          <a:prstGeom prst="rect">
            <a:avLst/>
          </a:prstGeom>
          <a:solidFill>
            <a:srgbClr val="57A0FF"/>
          </a:solidFill>
          <a:ln w="12700">
            <a:solidFill>
              <a:srgbClr val="57A0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2834640" y="435254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7A0FF"/>
                </a:solidFill>
              </a:rPr>
              <a:t>08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3429000" y="4352544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3C"/>
                </a:solidFill>
              </a:rPr>
              <a:t>추가 질문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713232"/>
          </a:xfrm>
          <a:prstGeom prst="rect">
            <a:avLst/>
          </a:prstGeom>
          <a:solidFill>
            <a:srgbClr val="57A0FF"/>
          </a:solidFill>
          <a:ln w="12700">
            <a:solidFill>
              <a:srgbClr val="57A0FF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5" name="Text 3"/>
          <p:cNvSpPr/>
          <p:nvPr/>
        </p:nvSpPr>
        <p:spPr>
          <a:xfrm>
            <a:off x="256032" y="128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57A0FF"/>
                </a:solidFill>
                <a:latin typeface="+mn-ea"/>
              </a:rPr>
              <a:t>01</a:t>
            </a:r>
            <a:endParaRPr lang="en-US" dirty="0">
              <a:solidFill>
                <a:srgbClr val="57A0FF"/>
              </a:solidFill>
              <a:latin typeface="+mn-ea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167533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 err="1">
                <a:solidFill>
                  <a:srgbClr val="FFFFFF"/>
                </a:solidFill>
                <a:latin typeface="+mn-ea"/>
              </a:rPr>
              <a:t>제안</a:t>
            </a:r>
            <a:r>
              <a:rPr lang="en-US" sz="1800" b="1" dirty="0">
                <a:solidFill>
                  <a:srgbClr val="FFFFFF"/>
                </a:solidFill>
                <a:latin typeface="+mn-ea"/>
              </a:rPr>
              <a:t> 배경</a:t>
            </a:r>
            <a:endParaRPr lang="en-US" sz="1800" dirty="0">
              <a:latin typeface="+mn-ea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54003" y="1643627"/>
            <a:ext cx="4552604" cy="1033272"/>
          </a:xfrm>
          <a:prstGeom prst="rect">
            <a:avLst/>
          </a:prstGeom>
          <a:solidFill>
            <a:srgbClr val="EFF5FF"/>
          </a:solidFill>
          <a:ln w="12700">
            <a:solidFill>
              <a:srgbClr val="57A0FF">
                <a:alpha val="40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+mn-ea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54003" y="1643627"/>
            <a:ext cx="64008" cy="1033272"/>
          </a:xfrm>
          <a:prstGeom prst="rect">
            <a:avLst/>
          </a:prstGeom>
          <a:solidFill>
            <a:srgbClr val="57A0FF"/>
          </a:solidFill>
          <a:ln w="12700">
            <a:solidFill>
              <a:srgbClr val="57A0FF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9" name="Text 7"/>
          <p:cNvSpPr/>
          <p:nvPr/>
        </p:nvSpPr>
        <p:spPr>
          <a:xfrm>
            <a:off x="491163" y="1698491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b="1" dirty="0">
                <a:solidFill>
                  <a:srgbClr val="0D1F3C"/>
                </a:solidFill>
                <a:latin typeface="+mn-ea"/>
              </a:rPr>
              <a:t>재고 부담 </a:t>
            </a:r>
            <a:r>
              <a:rPr lang="en-US" altLang="ko-KR" sz="1200" b="1" dirty="0">
                <a:solidFill>
                  <a:srgbClr val="0D1F3C"/>
                </a:solidFill>
                <a:latin typeface="+mn-ea"/>
              </a:rPr>
              <a:t>: </a:t>
            </a:r>
            <a:r>
              <a:rPr lang="ko-KR" altLang="en-US" sz="1200" b="1" dirty="0" err="1">
                <a:solidFill>
                  <a:srgbClr val="0D1F3C"/>
                </a:solidFill>
                <a:latin typeface="+mn-ea"/>
              </a:rPr>
              <a:t>무재고</a:t>
            </a:r>
            <a:r>
              <a:rPr lang="ko-KR" altLang="en-US" sz="1200" b="1" dirty="0">
                <a:solidFill>
                  <a:srgbClr val="0D1F3C"/>
                </a:solidFill>
                <a:latin typeface="+mn-ea"/>
              </a:rPr>
              <a:t> 위탁 판매 방식 선호</a:t>
            </a:r>
            <a:endParaRPr lang="en-US" sz="1200" dirty="0">
              <a:latin typeface="+mn-ea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91162" y="1991099"/>
            <a:ext cx="43600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altLang="ko-KR" sz="1050" dirty="0">
                <a:solidFill>
                  <a:srgbClr val="A8C8FF"/>
                </a:solidFill>
                <a:latin typeface="+mn-ea"/>
              </a:rPr>
              <a:t>✔ </a:t>
            </a:r>
            <a:r>
              <a:rPr lang="ko-KR" altLang="en-US" sz="1050" dirty="0">
                <a:solidFill>
                  <a:srgbClr val="64748B"/>
                </a:solidFill>
                <a:latin typeface="+mn-ea"/>
              </a:rPr>
              <a:t>초기 셀러들은 재고 부담을 줄이기 위해 </a:t>
            </a:r>
            <a:r>
              <a:rPr lang="ko-KR" altLang="en-US" sz="1050" dirty="0" err="1">
                <a:solidFill>
                  <a:srgbClr val="64748B"/>
                </a:solidFill>
                <a:latin typeface="+mn-ea"/>
              </a:rPr>
              <a:t>무재고</a:t>
            </a:r>
            <a:r>
              <a:rPr lang="ko-KR" altLang="en-US" sz="1050" dirty="0">
                <a:solidFill>
                  <a:srgbClr val="64748B"/>
                </a:solidFill>
                <a:latin typeface="+mn-ea"/>
              </a:rPr>
              <a:t> 위탁 판매 방식 선호</a:t>
            </a:r>
            <a:endParaRPr lang="en-US" altLang="ko-KR" sz="1050" dirty="0">
              <a:solidFill>
                <a:srgbClr val="64748B"/>
              </a:solidFill>
              <a:latin typeface="+mn-ea"/>
            </a:endParaRPr>
          </a:p>
          <a:p>
            <a:pPr>
              <a:lnSpc>
                <a:spcPct val="140000"/>
              </a:lnSpc>
            </a:pPr>
            <a:r>
              <a:rPr lang="en-US" altLang="ko-KR" sz="1050" dirty="0">
                <a:solidFill>
                  <a:srgbClr val="A8C8FF"/>
                </a:solidFill>
                <a:latin typeface="+mn-ea"/>
              </a:rPr>
              <a:t>✔ </a:t>
            </a:r>
            <a:r>
              <a:rPr lang="ko-KR" altLang="en-US" sz="1050" dirty="0">
                <a:solidFill>
                  <a:srgbClr val="64748B"/>
                </a:solidFill>
                <a:latin typeface="+mn-ea"/>
              </a:rPr>
              <a:t>대량 상품의 판매가에 마진을 붙여 판매를 진행함</a:t>
            </a:r>
          </a:p>
        </p:txBody>
      </p:sp>
      <p:sp>
        <p:nvSpPr>
          <p:cNvPr id="11" name="Shape 9"/>
          <p:cNvSpPr/>
          <p:nvPr/>
        </p:nvSpPr>
        <p:spPr>
          <a:xfrm>
            <a:off x="354003" y="2959824"/>
            <a:ext cx="4552604" cy="1033272"/>
          </a:xfrm>
          <a:prstGeom prst="rect">
            <a:avLst/>
          </a:prstGeom>
          <a:solidFill>
            <a:srgbClr val="EFF5FF"/>
          </a:solidFill>
          <a:ln w="12700">
            <a:solidFill>
              <a:srgbClr val="57A0FF">
                <a:alpha val="40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54003" y="2959824"/>
            <a:ext cx="64008" cy="1033272"/>
          </a:xfrm>
          <a:prstGeom prst="rect">
            <a:avLst/>
          </a:prstGeom>
          <a:solidFill>
            <a:srgbClr val="57A0FF"/>
          </a:solidFill>
          <a:ln w="12700">
            <a:solidFill>
              <a:srgbClr val="57A0FF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91163" y="30146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b="1" dirty="0">
                <a:solidFill>
                  <a:srgbClr val="0D1F3C"/>
                </a:solidFill>
                <a:latin typeface="+mn-ea"/>
              </a:rPr>
              <a:t>복잡한 마켓 수수료</a:t>
            </a:r>
            <a:r>
              <a:rPr lang="en-US" altLang="ko-KR" sz="1200" b="1" dirty="0">
                <a:solidFill>
                  <a:srgbClr val="0D1F3C"/>
                </a:solidFill>
                <a:latin typeface="+mn-ea"/>
              </a:rPr>
              <a:t>, </a:t>
            </a:r>
            <a:r>
              <a:rPr lang="ko-KR" altLang="en-US" sz="1200" b="1" dirty="0" err="1">
                <a:solidFill>
                  <a:srgbClr val="0D1F3C"/>
                </a:solidFill>
                <a:latin typeface="+mn-ea"/>
              </a:rPr>
              <a:t>역마진</a:t>
            </a:r>
            <a:r>
              <a:rPr lang="ko-KR" altLang="en-US" sz="1200" b="1" dirty="0">
                <a:solidFill>
                  <a:srgbClr val="0D1F3C"/>
                </a:solidFill>
                <a:latin typeface="+mn-ea"/>
              </a:rPr>
              <a:t> 우려에 대한 부담</a:t>
            </a:r>
            <a:endParaRPr lang="en-US" sz="1200" dirty="0">
              <a:latin typeface="+mn-ea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91163" y="3307296"/>
            <a:ext cx="38039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altLang="ko-KR" sz="1050" dirty="0">
                <a:solidFill>
                  <a:srgbClr val="A8C8FF"/>
                </a:solidFill>
                <a:latin typeface="+mn-ea"/>
              </a:rPr>
              <a:t>✔ </a:t>
            </a:r>
            <a:r>
              <a:rPr lang="ko-KR" altLang="en-US" sz="1050" dirty="0">
                <a:solidFill>
                  <a:srgbClr val="64748B"/>
                </a:solidFill>
                <a:latin typeface="+mn-ea"/>
              </a:rPr>
              <a:t>초기 셀러는 솔루션 사용 경험이 많지 않음 </a:t>
            </a:r>
            <a:endParaRPr lang="en-US" altLang="ko-KR" sz="1050" dirty="0">
              <a:solidFill>
                <a:srgbClr val="64748B"/>
              </a:solidFill>
              <a:latin typeface="+mn-ea"/>
            </a:endParaRPr>
          </a:p>
          <a:p>
            <a:pPr>
              <a:lnSpc>
                <a:spcPct val="140000"/>
              </a:lnSpc>
            </a:pPr>
            <a:r>
              <a:rPr lang="en-US" altLang="ko-KR" sz="1050" dirty="0">
                <a:solidFill>
                  <a:srgbClr val="A8C8FF"/>
                </a:solidFill>
                <a:latin typeface="+mn-ea"/>
              </a:rPr>
              <a:t>✔ </a:t>
            </a:r>
            <a:r>
              <a:rPr lang="ko-KR" altLang="en-US" sz="1050" dirty="0">
                <a:solidFill>
                  <a:srgbClr val="64748B"/>
                </a:solidFill>
                <a:latin typeface="+mn-ea"/>
              </a:rPr>
              <a:t>복잡한 마켓 수수료 계산과 </a:t>
            </a:r>
            <a:r>
              <a:rPr lang="ko-KR" altLang="en-US" sz="1050" dirty="0" err="1">
                <a:solidFill>
                  <a:srgbClr val="64748B"/>
                </a:solidFill>
                <a:latin typeface="+mn-ea"/>
              </a:rPr>
              <a:t>역마진</a:t>
            </a:r>
            <a:r>
              <a:rPr lang="ko-KR" altLang="en-US" sz="1050" dirty="0">
                <a:solidFill>
                  <a:srgbClr val="64748B"/>
                </a:solidFill>
                <a:latin typeface="+mn-ea"/>
              </a:rPr>
              <a:t> 우려에 대한 심리적 부담 </a:t>
            </a:r>
          </a:p>
        </p:txBody>
      </p:sp>
      <p:sp>
        <p:nvSpPr>
          <p:cNvPr id="19" name="Shape 17"/>
          <p:cNvSpPr/>
          <p:nvPr/>
        </p:nvSpPr>
        <p:spPr>
          <a:xfrm>
            <a:off x="5542095" y="1911575"/>
            <a:ext cx="3217619" cy="1654585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  <a:effectLst>
            <a:outerShdw blurRad="177800" dist="50800" dir="8100000" algn="bl" rotWithShape="0">
              <a:srgbClr val="57A0FF">
                <a:alpha val="18000"/>
              </a:srgbClr>
            </a:outerShdw>
          </a:effectLst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678030" y="1971011"/>
            <a:ext cx="292259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 err="1">
                <a:solidFill>
                  <a:schemeClr val="bg1"/>
                </a:solidFill>
                <a:latin typeface="+mn-ea"/>
              </a:rPr>
              <a:t>제안</a:t>
            </a:r>
            <a:r>
              <a:rPr lang="en-US" sz="1300" b="1" kern="0" spc="100" dirty="0">
                <a:solidFill>
                  <a:schemeClr val="bg1"/>
                </a:solidFill>
                <a:latin typeface="+mn-ea"/>
              </a:rPr>
              <a:t> </a:t>
            </a:r>
            <a:r>
              <a:rPr lang="en-US" sz="1300" b="1" kern="0" spc="100" dirty="0" err="1">
                <a:solidFill>
                  <a:schemeClr val="bg1"/>
                </a:solidFill>
                <a:latin typeface="+mn-ea"/>
              </a:rPr>
              <a:t>방향</a:t>
            </a:r>
            <a:endParaRPr lang="en-US" sz="13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678030" y="2343828"/>
            <a:ext cx="2922594" cy="18288"/>
          </a:xfrm>
          <a:prstGeom prst="rect">
            <a:avLst/>
          </a:prstGeom>
          <a:solidFill>
            <a:srgbClr val="57A0FF">
              <a:alpha val="40000"/>
            </a:srgbClr>
          </a:solidFill>
          <a:ln w="12700">
            <a:solidFill>
              <a:srgbClr val="57A0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678029" y="2213327"/>
            <a:ext cx="296325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 err="1">
                <a:solidFill>
                  <a:srgbClr val="FFFFFF"/>
                </a:solidFill>
                <a:latin typeface="+mn-ea"/>
              </a:rPr>
              <a:t>쇼핑몰</a:t>
            </a:r>
            <a:r>
              <a:rPr lang="en-US" sz="1100" dirty="0">
                <a:solidFill>
                  <a:srgbClr val="FFFFFF"/>
                </a:solidFill>
                <a:latin typeface="+mn-ea"/>
              </a:rPr>
              <a:t> 계정별로 마진율을 </a:t>
            </a:r>
            <a:r>
              <a:rPr lang="en-US" sz="1100" dirty="0" err="1">
                <a:solidFill>
                  <a:srgbClr val="FFFFFF"/>
                </a:solidFill>
                <a:latin typeface="+mn-ea"/>
              </a:rPr>
              <a:t>미리</a:t>
            </a:r>
            <a:r>
              <a:rPr lang="en-US" sz="1100" dirty="0">
                <a:solidFill>
                  <a:srgbClr val="FFFFFF"/>
                </a:solidFill>
                <a:latin typeface="+mn-ea"/>
              </a:rPr>
              <a:t> </a:t>
            </a:r>
            <a:r>
              <a:rPr lang="en-US" sz="1100" dirty="0" err="1">
                <a:solidFill>
                  <a:srgbClr val="FFFFFF"/>
                </a:solidFill>
                <a:latin typeface="+mn-ea"/>
              </a:rPr>
              <a:t>설정</a:t>
            </a:r>
            <a:r>
              <a:rPr lang="ko-KR" altLang="en-US" sz="1100" dirty="0">
                <a:solidFill>
                  <a:srgbClr val="FFFFFF"/>
                </a:solidFill>
                <a:latin typeface="+mn-ea"/>
              </a:rPr>
              <a:t>하여 </a:t>
            </a:r>
            <a:endParaRPr lang="en-US" altLang="ko-KR" sz="1100" dirty="0">
              <a:solidFill>
                <a:srgbClr val="FFFFFF"/>
              </a:solidFill>
              <a:latin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 err="1">
                <a:solidFill>
                  <a:srgbClr val="FFFFFF"/>
                </a:solidFill>
                <a:latin typeface="+mn-ea"/>
              </a:rPr>
              <a:t>마켓별</a:t>
            </a:r>
            <a:r>
              <a:rPr lang="en-US" sz="1100" dirty="0">
                <a:solidFill>
                  <a:srgbClr val="FFFFFF"/>
                </a:solidFill>
                <a:latin typeface="+mn-ea"/>
              </a:rPr>
              <a:t> 판매가를 자동 반영하는 기능 도입</a:t>
            </a:r>
            <a:endParaRPr lang="en-US" sz="1100" dirty="0">
              <a:latin typeface="+mn-ea"/>
            </a:endParaRPr>
          </a:p>
        </p:txBody>
      </p:sp>
      <p:sp>
        <p:nvSpPr>
          <p:cNvPr id="30" name="Text 7">
            <a:extLst>
              <a:ext uri="{FF2B5EF4-FFF2-40B4-BE49-F238E27FC236}">
                <a16:creationId xmlns:a16="http://schemas.microsoft.com/office/drawing/2014/main" id="{F0ED754B-F9D4-3E1E-188C-F29EA1AC6FCC}"/>
              </a:ext>
            </a:extLst>
          </p:cNvPr>
          <p:cNvSpPr/>
          <p:nvPr/>
        </p:nvSpPr>
        <p:spPr>
          <a:xfrm>
            <a:off x="354003" y="826879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1200" b="1" dirty="0">
                <a:solidFill>
                  <a:srgbClr val="0D1F3C"/>
                </a:solidFill>
                <a:latin typeface="+mn-ea"/>
              </a:rPr>
              <a:t>'N</a:t>
            </a:r>
            <a:r>
              <a:rPr lang="ko-KR" altLang="en-US" sz="1200" b="1" dirty="0" err="1">
                <a:solidFill>
                  <a:srgbClr val="0D1F3C"/>
                </a:solidFill>
                <a:latin typeface="+mn-ea"/>
              </a:rPr>
              <a:t>잡러</a:t>
            </a:r>
            <a:r>
              <a:rPr lang="ko-KR" altLang="en-US" sz="1200" b="1" dirty="0">
                <a:solidFill>
                  <a:srgbClr val="0D1F3C"/>
                </a:solidFill>
                <a:latin typeface="+mn-ea"/>
              </a:rPr>
              <a:t> </a:t>
            </a:r>
            <a:r>
              <a:rPr lang="en-US" altLang="ko-KR" sz="1200" b="1" dirty="0">
                <a:solidFill>
                  <a:srgbClr val="0D1F3C"/>
                </a:solidFill>
                <a:latin typeface="+mn-ea"/>
              </a:rPr>
              <a:t>/ </a:t>
            </a:r>
            <a:r>
              <a:rPr lang="ko-KR" altLang="en-US" sz="1200" b="1" dirty="0">
                <a:solidFill>
                  <a:srgbClr val="0D1F3C"/>
                </a:solidFill>
                <a:latin typeface="+mn-ea"/>
              </a:rPr>
              <a:t>초기 </a:t>
            </a:r>
            <a:r>
              <a:rPr lang="en-US" altLang="ko-KR" sz="1200" b="1" dirty="0">
                <a:solidFill>
                  <a:srgbClr val="0D1F3C"/>
                </a:solidFill>
                <a:latin typeface="+mn-ea"/>
              </a:rPr>
              <a:t>1</a:t>
            </a:r>
            <a:r>
              <a:rPr lang="ko-KR" altLang="en-US" sz="1200" b="1" dirty="0">
                <a:solidFill>
                  <a:srgbClr val="0D1F3C"/>
                </a:solidFill>
                <a:latin typeface="+mn-ea"/>
              </a:rPr>
              <a:t>인 </a:t>
            </a:r>
            <a:r>
              <a:rPr lang="ko-KR" altLang="en-US" sz="1200" b="1" dirty="0" err="1">
                <a:solidFill>
                  <a:srgbClr val="0D1F3C"/>
                </a:solidFill>
                <a:latin typeface="+mn-ea"/>
              </a:rPr>
              <a:t>셀러’의</a:t>
            </a:r>
            <a:r>
              <a:rPr lang="ko-KR" altLang="en-US" sz="1200" b="1" dirty="0">
                <a:solidFill>
                  <a:srgbClr val="0D1F3C"/>
                </a:solidFill>
                <a:latin typeface="+mn-ea"/>
              </a:rPr>
              <a:t> 쇼핑몰 확장 </a:t>
            </a:r>
            <a:endParaRPr lang="en-US" sz="1200" dirty="0">
              <a:latin typeface="+mn-ea"/>
            </a:endParaRPr>
          </a:p>
        </p:txBody>
      </p:sp>
      <p:sp>
        <p:nvSpPr>
          <p:cNvPr id="37" name="Text 23">
            <a:extLst>
              <a:ext uri="{FF2B5EF4-FFF2-40B4-BE49-F238E27FC236}">
                <a16:creationId xmlns:a16="http://schemas.microsoft.com/office/drawing/2014/main" id="{22CAF617-0517-88A7-E540-73D0E991DDC6}"/>
              </a:ext>
            </a:extLst>
          </p:cNvPr>
          <p:cNvSpPr/>
          <p:nvPr/>
        </p:nvSpPr>
        <p:spPr>
          <a:xfrm>
            <a:off x="363147" y="112998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  <a:latin typeface="+mn-ea"/>
              </a:rPr>
              <a:t>“</a:t>
            </a:r>
            <a:r>
              <a:rPr lang="ko-KR" altLang="en-US" sz="1100" b="1" dirty="0">
                <a:solidFill>
                  <a:schemeClr val="accent1"/>
                </a:solidFill>
                <a:latin typeface="+mn-ea"/>
              </a:rPr>
              <a:t>가격 관리 편의성 및 </a:t>
            </a:r>
            <a:r>
              <a:rPr lang="ko-KR" altLang="en-US" sz="1100" b="1" dirty="0" err="1">
                <a:solidFill>
                  <a:schemeClr val="accent1"/>
                </a:solidFill>
                <a:latin typeface="+mn-ea"/>
              </a:rPr>
              <a:t>역마진</a:t>
            </a:r>
            <a:r>
              <a:rPr lang="ko-KR" altLang="en-US" sz="1100" b="1" dirty="0">
                <a:solidFill>
                  <a:schemeClr val="accent1"/>
                </a:solidFill>
                <a:latin typeface="+mn-ea"/>
              </a:rPr>
              <a:t> 부담 해소가 핵심</a:t>
            </a:r>
            <a:r>
              <a:rPr lang="en-US" altLang="ko-KR" sz="1100" b="1" dirty="0">
                <a:solidFill>
                  <a:schemeClr val="accent1"/>
                </a:solidFill>
                <a:latin typeface="+mn-ea"/>
              </a:rPr>
              <a:t>”</a:t>
            </a:r>
            <a:endParaRPr lang="en-US" sz="1100" b="1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39" name="Text 23">
            <a:extLst>
              <a:ext uri="{FF2B5EF4-FFF2-40B4-BE49-F238E27FC236}">
                <a16:creationId xmlns:a16="http://schemas.microsoft.com/office/drawing/2014/main" id="{11752E8F-7775-7D9F-2F3D-A8A741F3E06E}"/>
              </a:ext>
            </a:extLst>
          </p:cNvPr>
          <p:cNvSpPr/>
          <p:nvPr/>
        </p:nvSpPr>
        <p:spPr>
          <a:xfrm>
            <a:off x="5773783" y="3042818"/>
            <a:ext cx="275626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8FF"/>
                </a:solidFill>
                <a:latin typeface="+mn-ea"/>
              </a:rPr>
              <a:t>✔  사방넷 가격 정책 수식을 라이트하게 제공</a:t>
            </a:r>
            <a:endParaRPr lang="en-US" sz="1050" dirty="0">
              <a:latin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713232"/>
          </a:xfrm>
          <a:prstGeom prst="rect">
            <a:avLst/>
          </a:prstGeom>
          <a:solidFill>
            <a:srgbClr val="57A0FF"/>
          </a:solidFill>
          <a:ln w="12700">
            <a:solidFill>
              <a:srgbClr val="57A0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256032" y="128016"/>
            <a:ext cx="457200" cy="457200"/>
          </a:xfrm>
          <a:prstGeom prst="rect">
            <a:avLst/>
          </a:prstGeom>
          <a:solidFill>
            <a:srgbClr val="57A0FF"/>
          </a:solidFill>
          <a:ln w="12700">
            <a:solidFill>
              <a:srgbClr val="57A0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256032" y="128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4630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UX 문제 정의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89611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F3C"/>
                </a:solidFill>
              </a:rPr>
              <a:t>마켓 수수료 및 마진율 자동화 기능 부재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1389888"/>
            <a:ext cx="2697480" cy="3429000"/>
          </a:xfrm>
          <a:prstGeom prst="rect">
            <a:avLst/>
          </a:prstGeom>
          <a:solidFill>
            <a:srgbClr val="EFF5FF"/>
          </a:solidFill>
          <a:ln w="12700">
            <a:solidFill>
              <a:srgbClr val="57A0FF">
                <a:alpha val="30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365760" y="1389888"/>
            <a:ext cx="2697480" cy="73152"/>
          </a:xfrm>
          <a:prstGeom prst="rect">
            <a:avLst/>
          </a:prstGeom>
          <a:solidFill>
            <a:srgbClr val="57A0FF"/>
          </a:solidFill>
          <a:ln w="12700">
            <a:solidFill>
              <a:srgbClr val="57A0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353312" y="1536192"/>
            <a:ext cx="713232" cy="713232"/>
          </a:xfrm>
          <a:prstGeom prst="ellipse">
            <a:avLst/>
          </a:prstGeom>
          <a:solidFill>
            <a:srgbClr val="57A0FF"/>
          </a:solidFill>
          <a:ln w="12700">
            <a:solidFill>
              <a:srgbClr val="57A0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353312" y="1536192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" y="235915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F3C"/>
                </a:solidFill>
              </a:rPr>
              <a:t>수동 계산 부담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188720" y="2788920"/>
            <a:ext cx="1051560" cy="36576"/>
          </a:xfrm>
          <a:prstGeom prst="rect">
            <a:avLst/>
          </a:prstGeom>
          <a:solidFill>
            <a:srgbClr val="57A0FF"/>
          </a:solidFill>
          <a:ln w="12700">
            <a:solidFill>
              <a:srgbClr val="57A0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02920" y="2907792"/>
            <a:ext cx="2423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5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상품 등록·수정 시 쇼핑몰별 수수료를 직접 계산하여 판매가를 일일이 입력해야 함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46120" y="1389888"/>
            <a:ext cx="2697480" cy="3429000"/>
          </a:xfrm>
          <a:prstGeom prst="rect">
            <a:avLst/>
          </a:prstGeom>
          <a:solidFill>
            <a:srgbClr val="EFF5FF"/>
          </a:solidFill>
          <a:ln w="12700">
            <a:solidFill>
              <a:srgbClr val="57A0FF">
                <a:alpha val="30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3246120" y="1389888"/>
            <a:ext cx="2697480" cy="73152"/>
          </a:xfrm>
          <a:prstGeom prst="rect">
            <a:avLst/>
          </a:prstGeom>
          <a:solidFill>
            <a:srgbClr val="57A0FF"/>
          </a:solidFill>
          <a:ln w="12700">
            <a:solidFill>
              <a:srgbClr val="57A0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4233672" y="1536192"/>
            <a:ext cx="713232" cy="713232"/>
          </a:xfrm>
          <a:prstGeom prst="ellipse">
            <a:avLst/>
          </a:prstGeom>
          <a:solidFill>
            <a:srgbClr val="57A0FF"/>
          </a:solidFill>
          <a:ln w="12700">
            <a:solidFill>
              <a:srgbClr val="57A0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233672" y="1536192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383280" y="235915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F3C"/>
                </a:solidFill>
              </a:rPr>
              <a:t>엑셀 의존 워크플로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069080" y="2788920"/>
            <a:ext cx="1051560" cy="36576"/>
          </a:xfrm>
          <a:prstGeom prst="rect">
            <a:avLst/>
          </a:prstGeom>
          <a:solidFill>
            <a:srgbClr val="57A0FF"/>
          </a:solidFill>
          <a:ln w="12700">
            <a:solidFill>
              <a:srgbClr val="57A0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3383280" y="2907792"/>
            <a:ext cx="2423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5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엑셀로 수수료율 적용 후 계산된 결과값을 사방넷 미니에 복붙하는 비효율적 작업 필요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26480" y="1389888"/>
            <a:ext cx="2697480" cy="3429000"/>
          </a:xfrm>
          <a:prstGeom prst="rect">
            <a:avLst/>
          </a:prstGeom>
          <a:solidFill>
            <a:srgbClr val="EFF5FF"/>
          </a:solidFill>
          <a:ln w="12700">
            <a:solidFill>
              <a:srgbClr val="57A0FF">
                <a:alpha val="30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6126480" y="1389888"/>
            <a:ext cx="2697480" cy="73152"/>
          </a:xfrm>
          <a:prstGeom prst="rect">
            <a:avLst/>
          </a:prstGeom>
          <a:solidFill>
            <a:srgbClr val="57A0FF"/>
          </a:solidFill>
          <a:ln w="12700">
            <a:solidFill>
              <a:srgbClr val="57A0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7114032" y="1536192"/>
            <a:ext cx="713232" cy="713232"/>
          </a:xfrm>
          <a:prstGeom prst="ellipse">
            <a:avLst/>
          </a:prstGeom>
          <a:solidFill>
            <a:srgbClr val="57A0FF"/>
          </a:solidFill>
          <a:ln w="12700">
            <a:solidFill>
              <a:srgbClr val="57A0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7114032" y="1536192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263640" y="235915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F3C"/>
                </a:solidFill>
              </a:rPr>
              <a:t>사방넷 기능 미지원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949440" y="2788920"/>
            <a:ext cx="1051560" cy="36576"/>
          </a:xfrm>
          <a:prstGeom prst="rect">
            <a:avLst/>
          </a:prstGeom>
          <a:solidFill>
            <a:srgbClr val="57A0FF"/>
          </a:solidFill>
          <a:ln w="12700">
            <a:solidFill>
              <a:srgbClr val="57A0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6263640" y="2907792"/>
            <a:ext cx="2423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5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사방넷에 유사 기능 존재하나, 미니 사용자에게는 간단한 수식으로 마진을 반영하는 기능이 없음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1"/>
                </a:solidFill>
              </a:rPr>
              <a:t>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713232"/>
          </a:xfrm>
          <a:prstGeom prst="rect">
            <a:avLst/>
          </a:prstGeom>
          <a:solidFill>
            <a:srgbClr val="57A0FF"/>
          </a:solidFill>
          <a:ln w="12700">
            <a:solidFill>
              <a:srgbClr val="57A0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256032" y="128016"/>
            <a:ext cx="457200" cy="457200"/>
          </a:xfrm>
          <a:prstGeom prst="rect">
            <a:avLst/>
          </a:prstGeom>
          <a:solidFill>
            <a:srgbClr val="57A0FF"/>
          </a:solidFill>
          <a:ln w="12700">
            <a:solidFill>
              <a:srgbClr val="57A0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256032" y="128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4630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개선 목적 및 방향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89611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F3C"/>
                </a:solidFill>
              </a:rPr>
              <a:t>🚀  3대 핵심 개선 방향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1389888"/>
            <a:ext cx="2697480" cy="34290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365760" y="4425696"/>
            <a:ext cx="2697480" cy="73152"/>
          </a:xfrm>
          <a:prstGeom prst="rect">
            <a:avLst/>
          </a:prstGeom>
          <a:solidFill>
            <a:srgbClr val="57A0FF"/>
          </a:solidFill>
          <a:ln w="12700">
            <a:solidFill>
              <a:srgbClr val="57A0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353312" y="1572768"/>
            <a:ext cx="713232" cy="713232"/>
          </a:xfrm>
          <a:prstGeom prst="ellipse">
            <a:avLst/>
          </a:prstGeom>
          <a:solidFill>
            <a:srgbClr val="57A0FF"/>
          </a:solidFill>
          <a:ln w="12700">
            <a:solidFill>
              <a:srgbClr val="57A0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353312" y="157276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75488" y="2395728"/>
            <a:ext cx="24780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프로세스 자동화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097280" y="2852928"/>
            <a:ext cx="1234440" cy="36576"/>
          </a:xfrm>
          <a:prstGeom prst="rect">
            <a:avLst/>
          </a:prstGeom>
          <a:solidFill>
            <a:srgbClr val="57A0FF"/>
          </a:solidFill>
          <a:ln w="12700">
            <a:solidFill>
              <a:srgbClr val="57A0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02920" y="2962656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050" dirty="0">
                <a:solidFill>
                  <a:srgbClr val="A8C8FF"/>
                </a:solidFill>
              </a:rPr>
              <a:t>쇼핑몰 상품 등록 시, 입력된 판매가를 기준으로</a:t>
            </a:r>
            <a:endParaRPr lang="en-US" sz="105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050" dirty="0">
                <a:solidFill>
                  <a:srgbClr val="A8C8FF"/>
                </a:solidFill>
              </a:rPr>
              <a:t>마진율 &amp; 수수료율에 따라 실시간 자동 계산 및 일괄 반영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46120" y="1389888"/>
            <a:ext cx="2697480" cy="34290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3246120" y="4425696"/>
            <a:ext cx="2697480" cy="73152"/>
          </a:xfrm>
          <a:prstGeom prst="rect">
            <a:avLst/>
          </a:prstGeom>
          <a:solidFill>
            <a:srgbClr val="4CAF8F"/>
          </a:solidFill>
          <a:ln w="12700">
            <a:solidFill>
              <a:srgbClr val="4CAF8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4233672" y="1572768"/>
            <a:ext cx="713232" cy="713232"/>
          </a:xfrm>
          <a:prstGeom prst="ellipse">
            <a:avLst/>
          </a:prstGeom>
          <a:solidFill>
            <a:srgbClr val="4CAF8F"/>
          </a:solidFill>
          <a:ln w="12700">
            <a:solidFill>
              <a:srgbClr val="4CAF8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233672" y="157276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355848" y="2395728"/>
            <a:ext cx="24780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직관적 UI / UX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977640" y="2852928"/>
            <a:ext cx="1234440" cy="36576"/>
          </a:xfrm>
          <a:prstGeom prst="rect">
            <a:avLst/>
          </a:prstGeom>
          <a:solidFill>
            <a:srgbClr val="4CAF8F"/>
          </a:solidFill>
          <a:ln w="12700">
            <a:solidFill>
              <a:srgbClr val="4CAF8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3383280" y="2962656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050" dirty="0">
                <a:solidFill>
                  <a:srgbClr val="A8C8FF"/>
                </a:solidFill>
              </a:rPr>
              <a:t>초보 셀러 친화적 설계</a:t>
            </a:r>
            <a:endParaRPr lang="en-US" sz="105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050" dirty="0">
                <a:solidFill>
                  <a:srgbClr val="A8C8FF"/>
                </a:solidFill>
              </a:rPr>
              <a:t>마진율(%) + 마켓수수료율(%) 입력창만 제공</a:t>
            </a:r>
            <a:endParaRPr lang="en-US" sz="105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050" dirty="0">
                <a:solidFill>
                  <a:srgbClr val="A8C8FF"/>
                </a:solidFill>
              </a:rPr>
              <a:t>복잡한 설정값 제외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26480" y="1389888"/>
            <a:ext cx="2697480" cy="34290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6126480" y="4425696"/>
            <a:ext cx="2697480" cy="73152"/>
          </a:xfrm>
          <a:prstGeom prst="rect">
            <a:avLst/>
          </a:prstGeom>
          <a:solidFill>
            <a:srgbClr val="FF8C57"/>
          </a:solidFill>
          <a:ln w="12700">
            <a:solidFill>
              <a:srgbClr val="FF8C5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7114032" y="1572768"/>
            <a:ext cx="713232" cy="713232"/>
          </a:xfrm>
          <a:prstGeom prst="ellipse">
            <a:avLst/>
          </a:prstGeom>
          <a:solidFill>
            <a:srgbClr val="FF8C57"/>
          </a:solidFill>
          <a:ln w="12700">
            <a:solidFill>
              <a:srgbClr val="FF8C5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7114032" y="157276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236208" y="2395728"/>
            <a:ext cx="24780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심리적 안전망 제공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858000" y="2852928"/>
            <a:ext cx="1234440" cy="36576"/>
          </a:xfrm>
          <a:prstGeom prst="rect">
            <a:avLst/>
          </a:prstGeom>
          <a:solidFill>
            <a:srgbClr val="FF8C57"/>
          </a:solidFill>
          <a:ln w="12700">
            <a:solidFill>
              <a:srgbClr val="FF8C5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6263640" y="2962656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050" dirty="0">
                <a:solidFill>
                  <a:srgbClr val="A8C8FF"/>
                </a:solidFill>
              </a:rPr>
              <a:t>마진 설정 시 역마진 방지 필터링 유효성 검사</a:t>
            </a:r>
            <a:endParaRPr lang="en-US" sz="105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050" dirty="0">
                <a:solidFill>
                  <a:srgbClr val="A8C8FF"/>
                </a:solidFill>
              </a:rPr>
              <a:t>입력 오류 시 경고 표시로 셀러 보호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1"/>
                </a:solidFill>
              </a:rPr>
              <a:t>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713232"/>
          </a:xfrm>
          <a:prstGeom prst="rect">
            <a:avLst/>
          </a:prstGeom>
          <a:solidFill>
            <a:srgbClr val="57A0FF"/>
          </a:solidFill>
          <a:ln w="12700">
            <a:solidFill>
              <a:srgbClr val="57A0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256032" y="128016"/>
            <a:ext cx="457200" cy="457200"/>
          </a:xfrm>
          <a:prstGeom prst="rect">
            <a:avLst/>
          </a:prstGeom>
          <a:solidFill>
            <a:srgbClr val="57A0FF"/>
          </a:solidFill>
          <a:ln w="12700">
            <a:solidFill>
              <a:srgbClr val="57A0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256032" y="128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4630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정책 수립 및 기능 흐름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65760" y="896112"/>
            <a:ext cx="4114800" cy="39319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  <a:effectLst>
            <a:outerShdw blurRad="177800" dist="50800" dir="8100000" algn="bl" rotWithShape="0">
              <a:srgbClr val="57A0FF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896112"/>
            <a:ext cx="4114800" cy="54864"/>
          </a:xfrm>
          <a:prstGeom prst="rect">
            <a:avLst/>
          </a:prstGeom>
          <a:solidFill>
            <a:srgbClr val="57A0FF"/>
          </a:solidFill>
          <a:ln w="12700">
            <a:solidFill>
              <a:srgbClr val="57A0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48640" y="100584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7A0FF"/>
                </a:solidFill>
              </a:rPr>
              <a:t>1. 가격 산출 알고리즘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137160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BD5E1"/>
                </a:solidFill>
              </a:rPr>
              <a:t>시스템 백엔드에서 쇼핑몰 카테고리 수수료 및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BD5E1"/>
                </a:solidFill>
              </a:rPr>
              <a:t>마진율을 대입해 최종 판매가를 자동 반영하는 정책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121408"/>
            <a:ext cx="3749040" cy="1188720"/>
          </a:xfrm>
          <a:prstGeom prst="rect">
            <a:avLst/>
          </a:prstGeom>
          <a:solidFill>
            <a:srgbClr val="0D1F3C"/>
          </a:solidFill>
          <a:ln w="12700">
            <a:solidFill>
              <a:srgbClr val="57A0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85800" y="22128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7A0FF"/>
                </a:solidFill>
              </a:rPr>
              <a:t>최종 판매가 =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248716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(원가 × (1 + M)) ÷ (1 - C)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5800" y="28712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C8FF"/>
                </a:solidFill>
              </a:rPr>
              <a:t>M: 희망 마진율 (%)   |   C: 쇼핑몰 수수료율 (%)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" y="34198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BD5E1"/>
                </a:solidFill>
              </a:rPr>
              <a:t>쇼핑몰별 최종 판매가 산출에 활용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709160" y="100584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3C"/>
                </a:solidFill>
              </a:rPr>
              <a:t>2. 기능 흐름도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09160" y="13533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사방넷 미니 사용자가 상품을 등록하기까지의 흐름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09160" y="1737360"/>
            <a:ext cx="4114800" cy="566928"/>
          </a:xfrm>
          <a:prstGeom prst="rect">
            <a:avLst/>
          </a:prstGeom>
          <a:solidFill>
            <a:srgbClr val="EFF5FF"/>
          </a:solidFill>
          <a:ln w="12700">
            <a:solidFill>
              <a:srgbClr val="CBD5E1"/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773168" y="177393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</a:rPr>
              <a:t>[사용자]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73168" y="201168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F3C"/>
                </a:solidFill>
              </a:rPr>
              <a:t>사방넷 상품 등록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583680" y="2304288"/>
            <a:ext cx="73152" cy="182880"/>
          </a:xfrm>
          <a:prstGeom prst="rect">
            <a:avLst/>
          </a:prstGeom>
          <a:solidFill>
            <a:srgbClr val="57A0FF"/>
          </a:solidFill>
          <a:ln w="12700">
            <a:solidFill>
              <a:srgbClr val="57A0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4709160" y="2487168"/>
            <a:ext cx="4114800" cy="566928"/>
          </a:xfrm>
          <a:prstGeom prst="rect">
            <a:avLst/>
          </a:prstGeom>
          <a:solidFill>
            <a:srgbClr val="EFF5FF"/>
          </a:solidFill>
          <a:ln w="12700">
            <a:solidFill>
              <a:srgbClr val="CBD5E1"/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4773168" y="252374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</a:rPr>
              <a:t>[사용자]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73168" y="276148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F3C"/>
                </a:solidFill>
              </a:rPr>
              <a:t>희망 마진율 &amp; 수수료율 입력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583680" y="3054096"/>
            <a:ext cx="73152" cy="182880"/>
          </a:xfrm>
          <a:prstGeom prst="rect">
            <a:avLst/>
          </a:prstGeom>
          <a:solidFill>
            <a:srgbClr val="57A0FF"/>
          </a:solidFill>
          <a:ln w="12700">
            <a:solidFill>
              <a:srgbClr val="57A0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4709160" y="3236976"/>
            <a:ext cx="4114800" cy="566928"/>
          </a:xfrm>
          <a:prstGeom prst="rect">
            <a:avLst/>
          </a:prstGeom>
          <a:solidFill>
            <a:srgbClr val="EFF5FF"/>
          </a:solidFill>
          <a:ln w="12700">
            <a:solidFill>
              <a:srgbClr val="CBD5E1"/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4773168" y="32735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</a:rPr>
              <a:t>[사용자]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73168" y="351129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F3C"/>
                </a:solidFill>
              </a:rPr>
              <a:t>쇼핑몰 아이디 선택 → 즉시송신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583680" y="3803904"/>
            <a:ext cx="73152" cy="182880"/>
          </a:xfrm>
          <a:prstGeom prst="rect">
            <a:avLst/>
          </a:prstGeom>
          <a:solidFill>
            <a:srgbClr val="57A0FF"/>
          </a:solidFill>
          <a:ln w="12700">
            <a:solidFill>
              <a:srgbClr val="57A0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4709160" y="3986784"/>
            <a:ext cx="4114800" cy="566928"/>
          </a:xfrm>
          <a:prstGeom prst="rect">
            <a:avLst/>
          </a:prstGeom>
          <a:solidFill>
            <a:srgbClr val="0D1F3C"/>
          </a:solidFill>
          <a:ln w="12700">
            <a:solidFill>
              <a:srgbClr val="57A0FF"/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4709160" y="3986784"/>
            <a:ext cx="54864" cy="566928"/>
          </a:xfrm>
          <a:prstGeom prst="rect">
            <a:avLst/>
          </a:prstGeom>
          <a:solidFill>
            <a:srgbClr val="57A0FF"/>
          </a:solidFill>
          <a:ln w="12700">
            <a:solidFill>
              <a:srgbClr val="57A0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4773168" y="402336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7A0FF"/>
                </a:solidFill>
              </a:rPr>
              <a:t>[시스템]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73168" y="426110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가격 산출 정책 수식 → 마켓별 판매가 계산 후 전송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1"/>
                </a:solidFill>
              </a:rPr>
              <a:t>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713232"/>
          </a:xfrm>
          <a:prstGeom prst="rect">
            <a:avLst/>
          </a:prstGeom>
          <a:solidFill>
            <a:srgbClr val="57A0FF"/>
          </a:solidFill>
          <a:ln w="12700">
            <a:solidFill>
              <a:srgbClr val="57A0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256032" y="128016"/>
            <a:ext cx="457200" cy="457200"/>
          </a:xfrm>
          <a:prstGeom prst="rect">
            <a:avLst/>
          </a:prstGeom>
          <a:solidFill>
            <a:srgbClr val="57A0FF"/>
          </a:solidFill>
          <a:ln w="12700">
            <a:solidFill>
              <a:srgbClr val="57A0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256032" y="128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4630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발생 리스크 및 대응 방안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65760" y="896112"/>
            <a:ext cx="8412480" cy="402336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02920" y="896112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🛑  Risk 1. 쇼핑몰별 수수료 수시 변경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298448"/>
            <a:ext cx="4023360" cy="1463040"/>
          </a:xfrm>
          <a:prstGeom prst="rect">
            <a:avLst/>
          </a:prstGeom>
          <a:solidFill>
            <a:srgbClr val="EFF5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12064" y="13716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6B"/>
                </a:solidFill>
              </a:rPr>
              <a:t>문제 상황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12064" y="164592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0D1F3C"/>
                </a:solidFill>
              </a:rPr>
              <a:t>쇼핑몰 정책에 따라 수수료율 변경 시, 설정한 마진 정보와 상이하여 오차 발생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0" y="1298448"/>
            <a:ext cx="4206240" cy="146304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572000" y="1298448"/>
            <a:ext cx="54864" cy="1463040"/>
          </a:xfrm>
          <a:prstGeom prst="rect">
            <a:avLst/>
          </a:prstGeom>
          <a:solidFill>
            <a:srgbClr val="57A0FF"/>
          </a:solidFill>
          <a:ln w="12700">
            <a:solidFill>
              <a:srgbClr val="57A0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709160" y="13716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7A0FF"/>
                </a:solidFill>
              </a:rPr>
              <a:t>대응 방안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09160" y="168249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✔  사방넷에서 쇼핑몰 공지사항 지속 업데이트 제공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09160" y="208483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✔  내부 DB에 수수료를 자동 업데이트하는 스케줄러 구축 (로드맵)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2907792"/>
            <a:ext cx="8412480" cy="402336"/>
          </a:xfrm>
          <a:prstGeom prst="rect">
            <a:avLst/>
          </a:prstGeom>
          <a:solidFill>
            <a:srgbClr val="FF8C57"/>
          </a:solidFill>
          <a:ln w="12700">
            <a:solidFill>
              <a:srgbClr val="FF8C5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02920" y="2907792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🛑  Risk 2. 카테고리별 수수료율 상이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3310128"/>
            <a:ext cx="4023360" cy="1463040"/>
          </a:xfrm>
          <a:prstGeom prst="rect">
            <a:avLst/>
          </a:prstGeom>
          <a:solidFill>
            <a:srgbClr val="EFF5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12064" y="33832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6B"/>
                </a:solidFill>
              </a:rPr>
              <a:t>문제 상황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12064" y="365760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0D1F3C"/>
                </a:solidFill>
              </a:rPr>
              <a:t>쇼핑몰 카테고리로 등록 시, 부가정보에 설정한 수수료율과 오차 발생 가능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0" y="3310128"/>
            <a:ext cx="4206240" cy="146304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4572000" y="3310128"/>
            <a:ext cx="54864" cy="1463040"/>
          </a:xfrm>
          <a:prstGeom prst="rect">
            <a:avLst/>
          </a:prstGeom>
          <a:solidFill>
            <a:srgbClr val="57A0FF"/>
          </a:solidFill>
          <a:ln w="12700">
            <a:solidFill>
              <a:srgbClr val="57A0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709160" y="33832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7A0FF"/>
                </a:solidFill>
              </a:rPr>
              <a:t>대응 방안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09160" y="369417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✔  얼럿/FAQ 등으로 사용자에게 인지 안내 → VOC 감소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709160" y="40965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✔  쇼핑몰 카테고리 설정 시 별도 마진 설정 기능 제공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1"/>
                </a:solidFill>
              </a:rPr>
              <a:t>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713232"/>
          </a:xfrm>
          <a:prstGeom prst="rect">
            <a:avLst/>
          </a:prstGeom>
          <a:solidFill>
            <a:srgbClr val="57A0FF"/>
          </a:solidFill>
          <a:ln w="12700">
            <a:solidFill>
              <a:srgbClr val="57A0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256032" y="128016"/>
            <a:ext cx="457200" cy="457200"/>
          </a:xfrm>
          <a:prstGeom prst="rect">
            <a:avLst/>
          </a:prstGeom>
          <a:solidFill>
            <a:srgbClr val="57A0FF"/>
          </a:solidFill>
          <a:ln w="12700">
            <a:solidFill>
              <a:srgbClr val="57A0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256032" y="128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4630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기대 효과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65760" y="896112"/>
            <a:ext cx="4023360" cy="1783080"/>
          </a:xfrm>
          <a:prstGeom prst="rect">
            <a:avLst/>
          </a:prstGeom>
          <a:solidFill>
            <a:srgbClr val="EFF5FF"/>
          </a:solidFill>
          <a:ln w="12700">
            <a:solidFill>
              <a:srgbClr val="57A0FF">
                <a:alpha val="40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896112"/>
            <a:ext cx="64008" cy="1783080"/>
          </a:xfrm>
          <a:prstGeom prst="rect">
            <a:avLst/>
          </a:prstGeom>
          <a:solidFill>
            <a:srgbClr val="57A0FF"/>
          </a:solidFill>
          <a:ln w="12700">
            <a:solidFill>
              <a:srgbClr val="57A0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48640" y="1005840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3C"/>
                </a:solidFill>
              </a:rPr>
              <a:t>⏱  판매가 설정 리소스 감소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1371600"/>
            <a:ext cx="3474720" cy="18288"/>
          </a:xfrm>
          <a:prstGeom prst="rect">
            <a:avLst/>
          </a:prstGeom>
          <a:solidFill>
            <a:srgbClr val="57A0FF">
              <a:alpha val="50000"/>
            </a:srgbClr>
          </a:solidFill>
          <a:ln w="12700">
            <a:solidFill>
              <a:srgbClr val="57A0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48640" y="146304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상품 등록 시 마진 설정을 통해 판매가 설정 시간 단축</a:t>
            </a:r>
            <a:endParaRPr lang="en-US" sz="10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수동 엑셀 작업 단계 제거 → 추가 리소스 절감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896112"/>
            <a:ext cx="4023360" cy="1783080"/>
          </a:xfrm>
          <a:prstGeom prst="rect">
            <a:avLst/>
          </a:prstGeom>
          <a:solidFill>
            <a:srgbClr val="0D1F3C"/>
          </a:solidFill>
          <a:ln w="12700">
            <a:solidFill>
              <a:srgbClr val="57A0FF">
                <a:alpha val="40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663440" y="896112"/>
            <a:ext cx="64008" cy="1783080"/>
          </a:xfrm>
          <a:prstGeom prst="rect">
            <a:avLst/>
          </a:prstGeom>
          <a:solidFill>
            <a:srgbClr val="57A0FF"/>
          </a:solidFill>
          <a:ln w="12700">
            <a:solidFill>
              <a:srgbClr val="57A0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846320" y="1005840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🛡  역마진 우려 감소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46320" y="1371600"/>
            <a:ext cx="3474720" cy="18288"/>
          </a:xfrm>
          <a:prstGeom prst="rect">
            <a:avLst/>
          </a:prstGeom>
          <a:solidFill>
            <a:srgbClr val="57A0FF">
              <a:alpha val="50000"/>
            </a:srgbClr>
          </a:solidFill>
          <a:ln w="12700">
            <a:solidFill>
              <a:srgbClr val="57A0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846320" y="146304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A8C8FF"/>
                </a:solidFill>
              </a:rPr>
              <a:t>유효성 필터링으로 역마진 발생 방지</a:t>
            </a:r>
            <a:endParaRPr lang="en-US" sz="10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A8C8FF"/>
                </a:solidFill>
              </a:rPr>
              <a:t>초기 셀러의 심리적 안전망 제공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2907792"/>
            <a:ext cx="4023360" cy="1783080"/>
          </a:xfrm>
          <a:prstGeom prst="rect">
            <a:avLst/>
          </a:prstGeom>
          <a:solidFill>
            <a:srgbClr val="EFF5FF"/>
          </a:solidFill>
          <a:ln w="12700">
            <a:solidFill>
              <a:srgbClr val="57A0FF">
                <a:alpha val="40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365760" y="2907792"/>
            <a:ext cx="64008" cy="1783080"/>
          </a:xfrm>
          <a:prstGeom prst="rect">
            <a:avLst/>
          </a:prstGeom>
          <a:solidFill>
            <a:srgbClr val="57A0FF"/>
          </a:solidFill>
          <a:ln w="12700">
            <a:solidFill>
              <a:srgbClr val="57A0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48640" y="3017520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3C"/>
                </a:solidFill>
              </a:rPr>
              <a:t>🚀  대량 등록 환경 조성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383280"/>
            <a:ext cx="3474720" cy="18288"/>
          </a:xfrm>
          <a:prstGeom prst="rect">
            <a:avLst/>
          </a:prstGeom>
          <a:solidFill>
            <a:srgbClr val="57A0FF">
              <a:alpha val="50000"/>
            </a:srgbClr>
          </a:solidFill>
          <a:ln w="12700">
            <a:solidFill>
              <a:srgbClr val="57A0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48640" y="347472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편의 기능으로 상품 대량 등록 및 관리 수월</a:t>
            </a:r>
            <a:endParaRPr lang="en-US" sz="10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솔루션 사용 난이도 감소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63440" y="2907792"/>
            <a:ext cx="4023360" cy="1783080"/>
          </a:xfrm>
          <a:prstGeom prst="rect">
            <a:avLst/>
          </a:prstGeom>
          <a:solidFill>
            <a:srgbClr val="0D1F3C"/>
          </a:solidFill>
          <a:ln w="12700">
            <a:solidFill>
              <a:srgbClr val="57A0FF">
                <a:alpha val="40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4663440" y="2907792"/>
            <a:ext cx="64008" cy="1783080"/>
          </a:xfrm>
          <a:prstGeom prst="rect">
            <a:avLst/>
          </a:prstGeom>
          <a:solidFill>
            <a:srgbClr val="57A0FF"/>
          </a:solidFill>
          <a:ln w="12700">
            <a:solidFill>
              <a:srgbClr val="57A0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846320" y="3017520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⭐  서비스 신뢰도 향상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46320" y="3383280"/>
            <a:ext cx="3474720" cy="18288"/>
          </a:xfrm>
          <a:prstGeom prst="rect">
            <a:avLst/>
          </a:prstGeom>
          <a:solidFill>
            <a:srgbClr val="57A0FF">
              <a:alpha val="50000"/>
            </a:srgbClr>
          </a:solidFill>
          <a:ln w="12700">
            <a:solidFill>
              <a:srgbClr val="57A0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4846320" y="347472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A8C8FF"/>
                </a:solidFill>
              </a:rPr>
              <a:t>사방넷 미니 서비스 신뢰도 및 만족도 향상</a:t>
            </a:r>
            <a:endParaRPr lang="en-US" sz="10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A8C8FF"/>
                </a:solidFill>
              </a:rPr>
              <a:t>초기 셀러 이탈률 감소 기대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1"/>
                </a:solidFill>
              </a:rPr>
              <a:t>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713232"/>
          </a:xfrm>
          <a:prstGeom prst="rect">
            <a:avLst/>
          </a:prstGeom>
          <a:solidFill>
            <a:srgbClr val="57A0FF"/>
          </a:solidFill>
          <a:ln w="12700">
            <a:solidFill>
              <a:srgbClr val="57A0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256032" y="128016"/>
            <a:ext cx="457200" cy="457200"/>
          </a:xfrm>
          <a:prstGeom prst="rect">
            <a:avLst/>
          </a:prstGeom>
          <a:solidFill>
            <a:srgbClr val="57A0FF"/>
          </a:solidFill>
          <a:ln w="12700">
            <a:solidFill>
              <a:srgbClr val="57A0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256032" y="128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07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4630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예시 화면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84124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쇼핑몰 부가정보 &gt; 마진 설정 UI 흐름 (개선 방향)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188720"/>
            <a:ext cx="8412480" cy="3639312"/>
          </a:xfrm>
          <a:prstGeom prst="rect">
            <a:avLst/>
          </a:prstGeom>
          <a:solidFill>
            <a:srgbClr val="F8FA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365760" y="1188720"/>
            <a:ext cx="8412480" cy="32918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502920" y="1289304"/>
            <a:ext cx="128016" cy="128016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685800" y="1289304"/>
            <a:ext cx="128016" cy="128016"/>
          </a:xfrm>
          <a:prstGeom prst="ellipse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868680" y="1289304"/>
            <a:ext cx="128016" cy="128016"/>
          </a:xfrm>
          <a:prstGeom prst="ellipse">
            <a:avLst/>
          </a:prstGeom>
          <a:solidFill>
            <a:srgbClr val="4CAF8F"/>
          </a:solidFill>
          <a:ln w="12700">
            <a:solidFill>
              <a:srgbClr val="4CAF8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1188720" y="1271016"/>
            <a:ext cx="502920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234440" y="1261872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사방넷 미니 &gt; 상품등록 &gt; 부가정보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02920" y="1609344"/>
            <a:ext cx="3291840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502920" y="1609344"/>
            <a:ext cx="3291840" cy="34747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21792" y="16459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마진율 설정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1792" y="208483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희망 마진율 (%)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1792" y="2286000"/>
            <a:ext cx="2834640" cy="256032"/>
          </a:xfrm>
          <a:prstGeom prst="rect">
            <a:avLst/>
          </a:prstGeom>
          <a:solidFill>
            <a:srgbClr val="EFF5FF"/>
          </a:solidFill>
          <a:ln w="12700">
            <a:solidFill>
              <a:srgbClr val="57A0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85800" y="22860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F3C"/>
                </a:solidFill>
              </a:rPr>
              <a:t>15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1792" y="265176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쇼핑몰 수수료율 (%)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21792" y="2852928"/>
            <a:ext cx="2834640" cy="256032"/>
          </a:xfrm>
          <a:prstGeom prst="rect">
            <a:avLst/>
          </a:prstGeom>
          <a:solidFill>
            <a:srgbClr val="EFF5FF"/>
          </a:solidFill>
          <a:ln w="12700">
            <a:solidFill>
              <a:srgbClr val="57A0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85800" y="28529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F3C"/>
                </a:solidFill>
              </a:rPr>
              <a:t>8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1792" y="321868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원가 (₩)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21792" y="3419856"/>
            <a:ext cx="2834640" cy="256032"/>
          </a:xfrm>
          <a:prstGeom prst="rect">
            <a:avLst/>
          </a:prstGeom>
          <a:solidFill>
            <a:srgbClr val="EFF5FF"/>
          </a:solidFill>
          <a:ln w="12700">
            <a:solidFill>
              <a:srgbClr val="57A0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85800" y="341985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F3C"/>
                </a:solidFill>
              </a:rPr>
              <a:t>10,000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1792" y="3931920"/>
            <a:ext cx="2834640" cy="347472"/>
          </a:xfrm>
          <a:prstGeom prst="rect">
            <a:avLst/>
          </a:prstGeom>
          <a:solidFill>
            <a:srgbClr val="57A0FF"/>
          </a:solidFill>
          <a:ln w="12700">
            <a:solidFill>
              <a:srgbClr val="57A0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621792" y="393192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적용하기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114800" y="1609344"/>
            <a:ext cx="4572000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4114800" y="1609344"/>
            <a:ext cx="4572000" cy="347472"/>
          </a:xfrm>
          <a:prstGeom prst="rect">
            <a:avLst/>
          </a:prstGeom>
          <a:solidFill>
            <a:srgbClr val="EFF5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4251960" y="16459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F3C"/>
                </a:solidFill>
              </a:rPr>
              <a:t>마켓별 자동 계산 결과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251960" y="2084832"/>
            <a:ext cx="4297680" cy="493776"/>
          </a:xfrm>
          <a:prstGeom prst="rect">
            <a:avLst/>
          </a:prstGeom>
          <a:solidFill>
            <a:srgbClr val="EFF5FF"/>
          </a:solidFill>
          <a:ln w="12700">
            <a:solidFill>
              <a:srgbClr val="CBD5E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4343400" y="215798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F3C"/>
                </a:solidFill>
              </a:rPr>
              <a:t>스마트스토어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989320" y="215798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수수료 6%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995160" y="215798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7A0FF"/>
                </a:solidFill>
              </a:rPr>
              <a:t>₩ 12,766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251960" y="2706624"/>
            <a:ext cx="42976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4343400" y="277977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F3C"/>
                </a:solidFill>
              </a:rPr>
              <a:t>쿠팡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989320" y="277977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수수료 10.8%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995160" y="277977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7A0FF"/>
                </a:solidFill>
              </a:rPr>
              <a:t>₩ 13,072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251960" y="3328416"/>
            <a:ext cx="4297680" cy="493776"/>
          </a:xfrm>
          <a:prstGeom prst="rect">
            <a:avLst/>
          </a:prstGeom>
          <a:solidFill>
            <a:srgbClr val="EFF5FF"/>
          </a:solidFill>
          <a:ln w="12700">
            <a:solidFill>
              <a:srgbClr val="CBD5E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4343400" y="34015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F3C"/>
                </a:solidFill>
              </a:rPr>
              <a:t>11번가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989320" y="340156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수수료 12%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995160" y="340156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7A0FF"/>
                </a:solidFill>
              </a:rPr>
              <a:t>₩ 13,210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251960" y="3950208"/>
            <a:ext cx="42976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4343400" y="40233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F3C"/>
                </a:solidFill>
              </a:rPr>
              <a:t>G마켓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989320" y="40233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수수료 11%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995160" y="40233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7A0FF"/>
                </a:solidFill>
              </a:rPr>
              <a:t>₩ 13,107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1"/>
                </a:solidFill>
              </a:rPr>
              <a:t>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713232"/>
          </a:xfrm>
          <a:prstGeom prst="rect">
            <a:avLst/>
          </a:prstGeom>
          <a:solidFill>
            <a:srgbClr val="57A0FF"/>
          </a:solidFill>
          <a:ln w="12700">
            <a:solidFill>
              <a:srgbClr val="57A0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256032" y="128016"/>
            <a:ext cx="457200" cy="457200"/>
          </a:xfrm>
          <a:prstGeom prst="rect">
            <a:avLst/>
          </a:prstGeom>
          <a:solidFill>
            <a:srgbClr val="57A0FF"/>
          </a:solidFill>
          <a:ln w="12700">
            <a:solidFill>
              <a:srgbClr val="57A0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256032" y="128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08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4630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추가 질문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65760" y="896112"/>
            <a:ext cx="8412480" cy="1188720"/>
          </a:xfrm>
          <a:prstGeom prst="rect">
            <a:avLst/>
          </a:prstGeom>
          <a:solidFill>
            <a:srgbClr val="EFF5FF"/>
          </a:solidFill>
          <a:ln w="12700">
            <a:solidFill>
              <a:srgbClr val="57A0FF">
                <a:alpha val="30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896112"/>
            <a:ext cx="64008" cy="1188720"/>
          </a:xfrm>
          <a:prstGeom prst="rect">
            <a:avLst/>
          </a:prstGeom>
          <a:solidFill>
            <a:srgbClr val="57A0FF"/>
          </a:solidFill>
          <a:ln w="12700">
            <a:solidFill>
              <a:srgbClr val="57A0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48640" y="969264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C"/>
                </a:solidFill>
              </a:rPr>
              <a:t>Q1. 과제를 어떤 방식으로 접근하셨나요?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298448"/>
            <a:ext cx="7955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초기 셀러의 높은 이탈률이 통합관리 솔루션의 어려움에서 출발했습니다. 직접 상품등록~주문수집까지 테스트하고, 이전 회사의 VOC 인사이트를 바탕으로 자동 마진 계산 기능을 도출했습니다.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249424"/>
            <a:ext cx="8412480" cy="1188720"/>
          </a:xfrm>
          <a:prstGeom prst="rect">
            <a:avLst/>
          </a:prstGeom>
          <a:solidFill>
            <a:srgbClr val="EFF5FF"/>
          </a:solidFill>
          <a:ln w="12700">
            <a:solidFill>
              <a:srgbClr val="57A0FF">
                <a:alpha val="30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365760" y="2249424"/>
            <a:ext cx="64008" cy="1188720"/>
          </a:xfrm>
          <a:prstGeom prst="rect">
            <a:avLst/>
          </a:prstGeom>
          <a:solidFill>
            <a:srgbClr val="57A0FF"/>
          </a:solidFill>
          <a:ln w="12700">
            <a:solidFill>
              <a:srgbClr val="57A0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48640" y="2322576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C"/>
                </a:solidFill>
              </a:rPr>
              <a:t>Q2. 협업 시 커뮤니케이션 방식과 우선순위 설정은?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2651760"/>
            <a:ext cx="7955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1순위: 상품등록 시 내부 자동 계산 구현 → 2순위: 수수료 DB 데이터 구현 순으로 우선순위를 잡고 개발팀에 수식 명세를 명확히 제공하겠습니다. UI 구현을 위해 유관 부서와 일정 및 구현 가능 여부를 협업하겠습니다.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3602736"/>
            <a:ext cx="8412480" cy="1188720"/>
          </a:xfrm>
          <a:prstGeom prst="rect">
            <a:avLst/>
          </a:prstGeom>
          <a:solidFill>
            <a:srgbClr val="EFF5FF"/>
          </a:solidFill>
          <a:ln w="12700">
            <a:solidFill>
              <a:srgbClr val="57A0FF">
                <a:alpha val="30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365760" y="3602736"/>
            <a:ext cx="64008" cy="1188720"/>
          </a:xfrm>
          <a:prstGeom prst="rect">
            <a:avLst/>
          </a:prstGeom>
          <a:solidFill>
            <a:srgbClr val="57A0FF"/>
          </a:solidFill>
          <a:ln w="12700">
            <a:solidFill>
              <a:srgbClr val="57A0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48640" y="367588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C"/>
                </a:solidFill>
              </a:rPr>
              <a:t>Q3. (선택) 추가 개선이 필요한 영역이 있다면?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4005072"/>
            <a:ext cx="7955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① 판매자관리코드 매칭 항목 추가 ② 단품매핑 확정 시 품절 해시태그 표기 방식 제공 ③ 검색 영역 아코디언 UI 적용으로 화면 공간 효율화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1"/>
                </a:solidFill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62847"/>
          </a:solidFill>
          <a:ln w="12700">
            <a:solidFill>
              <a:srgbClr val="1628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5760720" y="0"/>
            <a:ext cx="201168" cy="5143500"/>
          </a:xfrm>
          <a:prstGeom prst="rect">
            <a:avLst/>
          </a:prstGeom>
          <a:solidFill>
            <a:srgbClr val="57A0FF"/>
          </a:solidFill>
          <a:ln w="12700">
            <a:solidFill>
              <a:srgbClr val="57A0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6400800" y="3200400"/>
            <a:ext cx="2560320" cy="2560320"/>
          </a:xfrm>
          <a:prstGeom prst="ellipse">
            <a:avLst/>
          </a:prstGeom>
          <a:solidFill>
            <a:srgbClr val="57A0FF">
              <a:alpha val="12000"/>
            </a:srgbClr>
          </a:solidFill>
          <a:ln w="12700">
            <a:solidFill>
              <a:srgbClr val="57A0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315200" y="-548640"/>
            <a:ext cx="1463040" cy="1463040"/>
          </a:xfrm>
          <a:prstGeom prst="ellipse">
            <a:avLst/>
          </a:prstGeom>
          <a:solidFill>
            <a:srgbClr val="57A0FF">
              <a:alpha val="22000"/>
            </a:srgbClr>
          </a:solidFill>
          <a:ln w="12700">
            <a:solidFill>
              <a:srgbClr val="57A0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57A0FF"/>
                </a:solidFill>
              </a:rPr>
              <a:t>Thank You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02920" y="2121408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A8C8FF"/>
                </a:solidFill>
              </a:rPr>
              <a:t>사방넷 미니</a:t>
            </a:r>
            <a:endParaRPr lang="en-US" sz="16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A8C8FF"/>
                </a:solidFill>
              </a:rPr>
              <a:t>상품 판매가 마진 설정 프로세스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" y="3063240"/>
            <a:ext cx="3200400" cy="36576"/>
          </a:xfrm>
          <a:prstGeom prst="rect">
            <a:avLst/>
          </a:prstGeom>
          <a:solidFill>
            <a:srgbClr val="57A0FF">
              <a:alpha val="40000"/>
            </a:srgbClr>
          </a:solidFill>
          <a:ln w="12700">
            <a:solidFill>
              <a:srgbClr val="57A0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02920" y="32461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Q &amp; A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779</Words>
  <Application>Microsoft Office PowerPoint</Application>
  <PresentationFormat>화면 슬라이드 쇼(16:9)</PresentationFormat>
  <Paragraphs>167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Arial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박병규</cp:lastModifiedBy>
  <cp:revision>14</cp:revision>
  <dcterms:created xsi:type="dcterms:W3CDTF">2026-06-06T04:21:06Z</dcterms:created>
  <dcterms:modified xsi:type="dcterms:W3CDTF">2026-06-06T05:39:23Z</dcterms:modified>
</cp:coreProperties>
</file>